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Montserrat Bold" charset="1" panose="00000800000000000000"/>
      <p:regular r:id="rId20"/>
    </p:embeddedFont>
    <p:embeddedFont>
      <p:font typeface="Montserrat Heavy" charset="1" panose="00000A00000000000000"/>
      <p:regular r:id="rId21"/>
    </p:embeddedFont>
    <p:embeddedFont>
      <p:font typeface="Montserrat" charset="1" panose="00000500000000000000"/>
      <p:regular r:id="rId22"/>
    </p:embeddedFont>
    <p:embeddedFont>
      <p:font typeface="Montserrat Bold Italics" charset="1" panose="00000800000000000000"/>
      <p:regular r:id="rId23"/>
    </p:embeddedFont>
    <p:embeddedFont>
      <p:font typeface="Montserrat Italics" charset="1" panose="00000500000000000000"/>
      <p:regular r:id="rId24"/>
    </p:embeddedFont>
    <p:embeddedFont>
      <p:font typeface="League Spartan" charset="1" panose="000008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jpeg" Type="http://schemas.openxmlformats.org/officeDocument/2006/relationships/image"/><Relationship Id="rId5"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jpeg" Type="http://schemas.openxmlformats.org/officeDocument/2006/relationships/image"/><Relationship Id="rId5" Target="../media/image1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jpeg" Type="http://schemas.openxmlformats.org/officeDocument/2006/relationships/image"/><Relationship Id="rId5" Target="../media/image16.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513352" y="667880"/>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18FF"/>
            </a:soli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false" rot="0">
            <a:off x="-3380698" y="2327999"/>
            <a:ext cx="6892499" cy="6930301"/>
          </a:xfrm>
          <a:custGeom>
            <a:avLst/>
            <a:gdLst/>
            <a:ahLst/>
            <a:cxnLst/>
            <a:rect r="r" b="b" t="t" l="l"/>
            <a:pathLst>
              <a:path h="6930301" w="6892499">
                <a:moveTo>
                  <a:pt x="6892500" y="0"/>
                </a:moveTo>
                <a:lnTo>
                  <a:pt x="0" y="0"/>
                </a:lnTo>
                <a:lnTo>
                  <a:pt x="0" y="6930301"/>
                </a:lnTo>
                <a:lnTo>
                  <a:pt x="6892500" y="6930301"/>
                </a:lnTo>
                <a:lnTo>
                  <a:pt x="68925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949763" y="2327999"/>
            <a:ext cx="6892499" cy="6930301"/>
          </a:xfrm>
          <a:custGeom>
            <a:avLst/>
            <a:gdLst/>
            <a:ahLst/>
            <a:cxnLst/>
            <a:rect r="r" b="b" t="t" l="l"/>
            <a:pathLst>
              <a:path h="6930301" w="6892499">
                <a:moveTo>
                  <a:pt x="6892499" y="0"/>
                </a:moveTo>
                <a:lnTo>
                  <a:pt x="0" y="0"/>
                </a:lnTo>
                <a:lnTo>
                  <a:pt x="0" y="6930301"/>
                </a:lnTo>
                <a:lnTo>
                  <a:pt x="6892499" y="6930301"/>
                </a:lnTo>
                <a:lnTo>
                  <a:pt x="6892499"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8509167" y="8048730"/>
            <a:ext cx="5245736" cy="670665"/>
            <a:chOff x="0" y="0"/>
            <a:chExt cx="1381593" cy="176636"/>
          </a:xfrm>
        </p:grpSpPr>
        <p:sp>
          <p:nvSpPr>
            <p:cNvPr name="Freeform 8" id="8"/>
            <p:cNvSpPr/>
            <p:nvPr/>
          </p:nvSpPr>
          <p:spPr>
            <a:xfrm flipH="false" flipV="false" rot="0">
              <a:off x="0" y="0"/>
              <a:ext cx="1381593" cy="176636"/>
            </a:xfrm>
            <a:custGeom>
              <a:avLst/>
              <a:gdLst/>
              <a:ahLst/>
              <a:cxnLst/>
              <a:rect r="r" b="b" t="t" l="l"/>
              <a:pathLst>
                <a:path h="176636" w="1381593">
                  <a:moveTo>
                    <a:pt x="88318" y="0"/>
                  </a:moveTo>
                  <a:lnTo>
                    <a:pt x="1293275" y="0"/>
                  </a:lnTo>
                  <a:cubicBezTo>
                    <a:pt x="1342052" y="0"/>
                    <a:pt x="1381593" y="39541"/>
                    <a:pt x="1381593" y="88318"/>
                  </a:cubicBezTo>
                  <a:lnTo>
                    <a:pt x="1381593" y="88318"/>
                  </a:lnTo>
                  <a:cubicBezTo>
                    <a:pt x="1381593" y="111741"/>
                    <a:pt x="1372288" y="134205"/>
                    <a:pt x="1355725" y="150768"/>
                  </a:cubicBezTo>
                  <a:cubicBezTo>
                    <a:pt x="1339163" y="167331"/>
                    <a:pt x="1316699" y="176636"/>
                    <a:pt x="1293275" y="176636"/>
                  </a:cubicBezTo>
                  <a:lnTo>
                    <a:pt x="88318" y="176636"/>
                  </a:lnTo>
                  <a:cubicBezTo>
                    <a:pt x="64895" y="176636"/>
                    <a:pt x="42431" y="167331"/>
                    <a:pt x="25868" y="150768"/>
                  </a:cubicBezTo>
                  <a:cubicBezTo>
                    <a:pt x="9305" y="134205"/>
                    <a:pt x="0" y="111741"/>
                    <a:pt x="0" y="88318"/>
                  </a:cubicBezTo>
                  <a:lnTo>
                    <a:pt x="0" y="88318"/>
                  </a:lnTo>
                  <a:cubicBezTo>
                    <a:pt x="0" y="64895"/>
                    <a:pt x="9305" y="42431"/>
                    <a:pt x="25868" y="25868"/>
                  </a:cubicBezTo>
                  <a:cubicBezTo>
                    <a:pt x="42431" y="9305"/>
                    <a:pt x="64895" y="0"/>
                    <a:pt x="88318" y="0"/>
                  </a:cubicBezTo>
                  <a:close/>
                </a:path>
              </a:pathLst>
            </a:custGeom>
            <a:solidFill>
              <a:srgbClr val="0018FF"/>
            </a:solidFill>
          </p:spPr>
        </p:sp>
        <p:sp>
          <p:nvSpPr>
            <p:cNvPr name="TextBox 9" id="9"/>
            <p:cNvSpPr txBox="true"/>
            <p:nvPr/>
          </p:nvSpPr>
          <p:spPr>
            <a:xfrm>
              <a:off x="0" y="-38100"/>
              <a:ext cx="1381593" cy="214736"/>
            </a:xfrm>
            <a:prstGeom prst="rect">
              <a:avLst/>
            </a:prstGeom>
          </p:spPr>
          <p:txBody>
            <a:bodyPr anchor="ctr" rtlCol="false" tIns="50800" lIns="50800" bIns="50800" rIns="50800"/>
            <a:lstStyle/>
            <a:p>
              <a:pPr algn="ctr">
                <a:lnSpc>
                  <a:spcPts val="2659"/>
                </a:lnSpc>
              </a:pPr>
              <a:r>
                <a:rPr lang="en-US" b="true" sz="1899" spc="3">
                  <a:solidFill>
                    <a:srgbClr val="FFFFFF"/>
                  </a:solidFill>
                  <a:latin typeface="Montserrat Bold"/>
                  <a:ea typeface="Montserrat Bold"/>
                  <a:cs typeface="Montserrat Bold"/>
                  <a:sym typeface="Montserrat Bold"/>
                </a:rPr>
                <a:t>COEP Technological University, Pune</a:t>
              </a:r>
            </a:p>
          </p:txBody>
        </p:sp>
      </p:grpSp>
      <p:sp>
        <p:nvSpPr>
          <p:cNvPr name="Freeform 10" id="10"/>
          <p:cNvSpPr/>
          <p:nvPr/>
        </p:nvSpPr>
        <p:spPr>
          <a:xfrm flipH="false" flipV="false" rot="0">
            <a:off x="16392437" y="520957"/>
            <a:ext cx="1152546" cy="770159"/>
          </a:xfrm>
          <a:custGeom>
            <a:avLst/>
            <a:gdLst/>
            <a:ahLst/>
            <a:cxnLst/>
            <a:rect r="r" b="b" t="t" l="l"/>
            <a:pathLst>
              <a:path h="770159" w="1152546">
                <a:moveTo>
                  <a:pt x="0" y="0"/>
                </a:moveTo>
                <a:lnTo>
                  <a:pt x="1152546" y="0"/>
                </a:lnTo>
                <a:lnTo>
                  <a:pt x="1152546" y="770160"/>
                </a:lnTo>
                <a:lnTo>
                  <a:pt x="0" y="770160"/>
                </a:lnTo>
                <a:lnTo>
                  <a:pt x="0" y="0"/>
                </a:lnTo>
                <a:close/>
              </a:path>
            </a:pathLst>
          </a:custGeom>
          <a:blipFill>
            <a:blip r:embed="rId4"/>
            <a:stretch>
              <a:fillRect l="0" t="0" r="0" b="0"/>
            </a:stretch>
          </a:blipFill>
        </p:spPr>
      </p:sp>
      <p:sp>
        <p:nvSpPr>
          <p:cNvPr name="TextBox 11" id="11"/>
          <p:cNvSpPr txBox="true"/>
          <p:nvPr/>
        </p:nvSpPr>
        <p:spPr>
          <a:xfrm rot="0">
            <a:off x="15294484" y="836501"/>
            <a:ext cx="1421291" cy="264160"/>
          </a:xfrm>
          <a:prstGeom prst="rect">
            <a:avLst/>
          </a:prstGeom>
        </p:spPr>
        <p:txBody>
          <a:bodyPr anchor="t" rtlCol="false" tIns="0" lIns="0" bIns="0" rIns="0">
            <a:spAutoFit/>
          </a:bodyPr>
          <a:lstStyle/>
          <a:p>
            <a:pPr algn="ctr">
              <a:lnSpc>
                <a:spcPts val="2240"/>
              </a:lnSpc>
              <a:spcBef>
                <a:spcPct val="0"/>
              </a:spcBef>
            </a:pPr>
            <a:r>
              <a:rPr lang="en-US" b="true" sz="1600" spc="3">
                <a:solidFill>
                  <a:srgbClr val="FFFFFF"/>
                </a:solidFill>
                <a:latin typeface="Montserrat Bold"/>
                <a:ea typeface="Montserrat Bold"/>
                <a:cs typeface="Montserrat Bold"/>
                <a:sym typeface="Montserrat Bold"/>
              </a:rPr>
              <a:t>PLUGIN</a:t>
            </a:r>
          </a:p>
        </p:txBody>
      </p:sp>
      <p:sp>
        <p:nvSpPr>
          <p:cNvPr name="TextBox 12" id="12"/>
          <p:cNvSpPr txBox="true"/>
          <p:nvPr/>
        </p:nvSpPr>
        <p:spPr>
          <a:xfrm rot="0">
            <a:off x="949763" y="740947"/>
            <a:ext cx="1761862" cy="37259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Montserrat Heavy"/>
                <a:ea typeface="Montserrat Heavy"/>
                <a:cs typeface="Montserrat Heavy"/>
                <a:sym typeface="Montserrat Heavy"/>
              </a:rPr>
              <a:t>Neural</a:t>
            </a:r>
          </a:p>
        </p:txBody>
      </p:sp>
      <p:sp>
        <p:nvSpPr>
          <p:cNvPr name="TextBox 13" id="13"/>
          <p:cNvSpPr txBox="true"/>
          <p:nvPr/>
        </p:nvSpPr>
        <p:spPr>
          <a:xfrm rot="0">
            <a:off x="2062637" y="740393"/>
            <a:ext cx="1761862" cy="37259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Montserrat"/>
                <a:ea typeface="Montserrat"/>
                <a:cs typeface="Montserrat"/>
                <a:sym typeface="Montserrat"/>
              </a:rPr>
              <a:t>Nexus</a:t>
            </a:r>
          </a:p>
        </p:txBody>
      </p:sp>
      <p:sp>
        <p:nvSpPr>
          <p:cNvPr name="TextBox 14" id="14"/>
          <p:cNvSpPr txBox="true"/>
          <p:nvPr/>
        </p:nvSpPr>
        <p:spPr>
          <a:xfrm rot="0">
            <a:off x="8509167" y="3758882"/>
            <a:ext cx="9166334" cy="1816989"/>
          </a:xfrm>
          <a:prstGeom prst="rect">
            <a:avLst/>
          </a:prstGeom>
        </p:spPr>
        <p:txBody>
          <a:bodyPr anchor="t" rtlCol="false" tIns="0" lIns="0" bIns="0" rIns="0">
            <a:spAutoFit/>
          </a:bodyPr>
          <a:lstStyle/>
          <a:p>
            <a:pPr algn="just" marL="0" indent="0" lvl="0">
              <a:lnSpc>
                <a:spcPts val="14826"/>
              </a:lnSpc>
              <a:spcBef>
                <a:spcPct val="0"/>
              </a:spcBef>
            </a:pPr>
            <a:r>
              <a:rPr lang="en-US" b="true" sz="10590" i="true" spc="-645">
                <a:solidFill>
                  <a:srgbClr val="FFFFFF"/>
                </a:solidFill>
                <a:latin typeface="Montserrat Bold Italics"/>
                <a:ea typeface="Montserrat Bold Italics"/>
                <a:cs typeface="Montserrat Bold Italics"/>
                <a:sym typeface="Montserrat Bold Italics"/>
              </a:rPr>
              <a:t>SME PLUGIN</a:t>
            </a:r>
          </a:p>
        </p:txBody>
      </p:sp>
      <p:sp>
        <p:nvSpPr>
          <p:cNvPr name="TextBox 15" id="15"/>
          <p:cNvSpPr txBox="true"/>
          <p:nvPr/>
        </p:nvSpPr>
        <p:spPr>
          <a:xfrm rot="0">
            <a:off x="8509167" y="3288983"/>
            <a:ext cx="9159348" cy="679450"/>
          </a:xfrm>
          <a:prstGeom prst="rect">
            <a:avLst/>
          </a:prstGeom>
        </p:spPr>
        <p:txBody>
          <a:bodyPr anchor="t" rtlCol="false" tIns="0" lIns="0" bIns="0" rIns="0">
            <a:spAutoFit/>
          </a:bodyPr>
          <a:lstStyle/>
          <a:p>
            <a:pPr algn="just" marL="0" indent="0" lvl="0">
              <a:lnSpc>
                <a:spcPts val="5600"/>
              </a:lnSpc>
              <a:spcBef>
                <a:spcPct val="0"/>
              </a:spcBef>
            </a:pPr>
            <a:r>
              <a:rPr lang="en-US" sz="4000" spc="-244">
                <a:solidFill>
                  <a:srgbClr val="FFFFFF"/>
                </a:solidFill>
                <a:latin typeface="Montserrat"/>
                <a:ea typeface="Montserrat"/>
                <a:cs typeface="Montserrat"/>
                <a:sym typeface="Montserrat"/>
              </a:rPr>
              <a:t>Hot Swappable</a:t>
            </a:r>
          </a:p>
        </p:txBody>
      </p:sp>
      <p:sp>
        <p:nvSpPr>
          <p:cNvPr name="TextBox 16" id="16"/>
          <p:cNvSpPr txBox="true"/>
          <p:nvPr/>
        </p:nvSpPr>
        <p:spPr>
          <a:xfrm rot="0">
            <a:off x="8544728" y="6533409"/>
            <a:ext cx="7956914" cy="1071372"/>
          </a:xfrm>
          <a:prstGeom prst="rect">
            <a:avLst/>
          </a:prstGeom>
        </p:spPr>
        <p:txBody>
          <a:bodyPr anchor="t" rtlCol="false" tIns="0" lIns="0" bIns="0" rIns="0">
            <a:spAutoFit/>
          </a:bodyPr>
          <a:lstStyle/>
          <a:p>
            <a:pPr algn="just">
              <a:lnSpc>
                <a:spcPts val="2124"/>
              </a:lnSpc>
            </a:pPr>
            <a:r>
              <a:rPr lang="en-US" sz="1800" spc="3">
                <a:solidFill>
                  <a:srgbClr val="FFFFFF"/>
                </a:solidFill>
                <a:latin typeface="Montserrat"/>
                <a:ea typeface="Montserrat"/>
                <a:cs typeface="Montserrat"/>
                <a:sym typeface="Montserrat"/>
              </a:rPr>
              <a:t>Sagar Shukla</a:t>
            </a:r>
          </a:p>
          <a:p>
            <a:pPr algn="just">
              <a:lnSpc>
                <a:spcPts val="2124"/>
              </a:lnSpc>
            </a:pPr>
            <a:r>
              <a:rPr lang="en-US" sz="1800" spc="3">
                <a:solidFill>
                  <a:srgbClr val="FFFFFF"/>
                </a:solidFill>
                <a:latin typeface="Montserrat"/>
                <a:ea typeface="Montserrat"/>
                <a:cs typeface="Montserrat"/>
                <a:sym typeface="Montserrat"/>
              </a:rPr>
              <a:t>Atharva Sayankar</a:t>
            </a:r>
          </a:p>
          <a:p>
            <a:pPr algn="just">
              <a:lnSpc>
                <a:spcPts val="2124"/>
              </a:lnSpc>
            </a:pPr>
            <a:r>
              <a:rPr lang="en-US" sz="1800" spc="3">
                <a:solidFill>
                  <a:srgbClr val="FFFFFF"/>
                </a:solidFill>
                <a:latin typeface="Montserrat"/>
                <a:ea typeface="Montserrat"/>
                <a:cs typeface="Montserrat"/>
                <a:sym typeface="Montserrat"/>
              </a:rPr>
              <a:t>Nikhil Tale</a:t>
            </a:r>
          </a:p>
          <a:p>
            <a:pPr algn="just">
              <a:lnSpc>
                <a:spcPts val="2124"/>
              </a:lnSpc>
            </a:pPr>
            <a:r>
              <a:rPr lang="en-US" sz="1800" spc="3">
                <a:solidFill>
                  <a:srgbClr val="FFFFFF"/>
                </a:solidFill>
                <a:latin typeface="Montserrat"/>
                <a:ea typeface="Montserrat"/>
                <a:cs typeface="Montserrat"/>
                <a:sym typeface="Montserrat"/>
              </a:rPr>
              <a:t>Pranav Patil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513352" y="667880"/>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18FF"/>
            </a:soli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false" rot="0">
            <a:off x="-885615" y="1411899"/>
            <a:ext cx="2621765" cy="2636144"/>
          </a:xfrm>
          <a:custGeom>
            <a:avLst/>
            <a:gdLst/>
            <a:ahLst/>
            <a:cxnLst/>
            <a:rect r="r" b="b" t="t" l="l"/>
            <a:pathLst>
              <a:path h="2636144" w="2621765">
                <a:moveTo>
                  <a:pt x="2621764" y="0"/>
                </a:moveTo>
                <a:lnTo>
                  <a:pt x="0" y="0"/>
                </a:lnTo>
                <a:lnTo>
                  <a:pt x="0" y="2636144"/>
                </a:lnTo>
                <a:lnTo>
                  <a:pt x="2621764" y="2636144"/>
                </a:lnTo>
                <a:lnTo>
                  <a:pt x="262176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445554" y="7940228"/>
            <a:ext cx="2621765" cy="2636144"/>
          </a:xfrm>
          <a:custGeom>
            <a:avLst/>
            <a:gdLst/>
            <a:ahLst/>
            <a:cxnLst/>
            <a:rect r="r" b="b" t="t" l="l"/>
            <a:pathLst>
              <a:path h="2636144" w="2621765">
                <a:moveTo>
                  <a:pt x="0" y="0"/>
                </a:moveTo>
                <a:lnTo>
                  <a:pt x="2621764" y="0"/>
                </a:lnTo>
                <a:lnTo>
                  <a:pt x="2621764" y="2636144"/>
                </a:lnTo>
                <a:lnTo>
                  <a:pt x="0" y="2636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783503" y="7940228"/>
            <a:ext cx="2621765" cy="2636144"/>
          </a:xfrm>
          <a:custGeom>
            <a:avLst/>
            <a:gdLst/>
            <a:ahLst/>
            <a:cxnLst/>
            <a:rect r="r" b="b" t="t" l="l"/>
            <a:pathLst>
              <a:path h="2636144" w="2621765">
                <a:moveTo>
                  <a:pt x="0" y="0"/>
                </a:moveTo>
                <a:lnTo>
                  <a:pt x="2621765" y="0"/>
                </a:lnTo>
                <a:lnTo>
                  <a:pt x="2621765" y="2636144"/>
                </a:lnTo>
                <a:lnTo>
                  <a:pt x="0" y="2636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3824499" y="5392621"/>
            <a:ext cx="1510177" cy="151017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8FF">
                <a:alpha val="56863"/>
              </a:srgbClr>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871"/>
                </a:lnSpc>
              </a:pPr>
            </a:p>
          </p:txBody>
        </p:sp>
      </p:grpSp>
      <p:sp>
        <p:nvSpPr>
          <p:cNvPr name="Freeform 11" id="11"/>
          <p:cNvSpPr/>
          <p:nvPr/>
        </p:nvSpPr>
        <p:spPr>
          <a:xfrm flipH="false" flipV="false" rot="0">
            <a:off x="1987523" y="4021273"/>
            <a:ext cx="5184128" cy="5237027"/>
          </a:xfrm>
          <a:custGeom>
            <a:avLst/>
            <a:gdLst/>
            <a:ahLst/>
            <a:cxnLst/>
            <a:rect r="r" b="b" t="t" l="l"/>
            <a:pathLst>
              <a:path h="5237027" w="5184128">
                <a:moveTo>
                  <a:pt x="0" y="0"/>
                </a:moveTo>
                <a:lnTo>
                  <a:pt x="5184128" y="0"/>
                </a:lnTo>
                <a:lnTo>
                  <a:pt x="5184128" y="5237027"/>
                </a:lnTo>
                <a:lnTo>
                  <a:pt x="0" y="5237027"/>
                </a:lnTo>
                <a:lnTo>
                  <a:pt x="0" y="0"/>
                </a:lnTo>
                <a:close/>
              </a:path>
            </a:pathLst>
          </a:custGeom>
          <a:blipFill>
            <a:blip r:embed="rId4"/>
            <a:stretch>
              <a:fillRect l="0" t="0" r="0" b="0"/>
            </a:stretch>
          </a:blipFill>
        </p:spPr>
      </p:sp>
      <p:sp>
        <p:nvSpPr>
          <p:cNvPr name="TextBox 12" id="12"/>
          <p:cNvSpPr txBox="true"/>
          <p:nvPr/>
        </p:nvSpPr>
        <p:spPr>
          <a:xfrm rot="0">
            <a:off x="15762422" y="764137"/>
            <a:ext cx="1421291" cy="330200"/>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Montserrat Bold"/>
                <a:ea typeface="Montserrat Bold"/>
                <a:cs typeface="Montserrat Bold"/>
                <a:sym typeface="Montserrat Bold"/>
              </a:rPr>
              <a:t>Page 02</a:t>
            </a:r>
          </a:p>
        </p:txBody>
      </p:sp>
      <p:sp>
        <p:nvSpPr>
          <p:cNvPr name="TextBox 13" id="13"/>
          <p:cNvSpPr txBox="true"/>
          <p:nvPr/>
        </p:nvSpPr>
        <p:spPr>
          <a:xfrm rot="0">
            <a:off x="2395477" y="1846696"/>
            <a:ext cx="7547451" cy="1036611"/>
          </a:xfrm>
          <a:prstGeom prst="rect">
            <a:avLst/>
          </a:prstGeom>
        </p:spPr>
        <p:txBody>
          <a:bodyPr anchor="t" rtlCol="false" tIns="0" lIns="0" bIns="0" rIns="0">
            <a:spAutoFit/>
          </a:bodyPr>
          <a:lstStyle/>
          <a:p>
            <a:pPr algn="just" marL="0" indent="0" lvl="0">
              <a:lnSpc>
                <a:spcPts val="8488"/>
              </a:lnSpc>
              <a:spcBef>
                <a:spcPct val="0"/>
              </a:spcBef>
            </a:pPr>
            <a:r>
              <a:rPr lang="en-US" sz="6063" spc="-369">
                <a:solidFill>
                  <a:srgbClr val="FFFFFF"/>
                </a:solidFill>
                <a:latin typeface="Montserrat"/>
                <a:ea typeface="Montserrat"/>
                <a:cs typeface="Montserrat"/>
                <a:sym typeface="Montserrat"/>
              </a:rPr>
              <a:t>Understanding the</a:t>
            </a:r>
          </a:p>
        </p:txBody>
      </p:sp>
      <p:sp>
        <p:nvSpPr>
          <p:cNvPr name="TextBox 14" id="14"/>
          <p:cNvSpPr txBox="true"/>
          <p:nvPr/>
        </p:nvSpPr>
        <p:spPr>
          <a:xfrm rot="0">
            <a:off x="2395477" y="2707636"/>
            <a:ext cx="7963900" cy="1442026"/>
          </a:xfrm>
          <a:prstGeom prst="rect">
            <a:avLst/>
          </a:prstGeom>
        </p:spPr>
        <p:txBody>
          <a:bodyPr anchor="t" rtlCol="false" tIns="0" lIns="0" bIns="0" rIns="0">
            <a:spAutoFit/>
          </a:bodyPr>
          <a:lstStyle/>
          <a:p>
            <a:pPr algn="just" marL="0" indent="0" lvl="0">
              <a:lnSpc>
                <a:spcPts val="11868"/>
              </a:lnSpc>
              <a:spcBef>
                <a:spcPct val="0"/>
              </a:spcBef>
            </a:pPr>
            <a:r>
              <a:rPr lang="en-US" b="true" sz="8477" spc="-517">
                <a:solidFill>
                  <a:srgbClr val="FFFFFF"/>
                </a:solidFill>
                <a:latin typeface="Montserrat Bold"/>
                <a:ea typeface="Montserrat Bold"/>
                <a:cs typeface="Montserrat Bold"/>
                <a:sym typeface="Montserrat Bold"/>
              </a:rPr>
              <a:t>Problem</a:t>
            </a:r>
          </a:p>
        </p:txBody>
      </p:sp>
      <p:sp>
        <p:nvSpPr>
          <p:cNvPr name="TextBox 15" id="15"/>
          <p:cNvSpPr txBox="true"/>
          <p:nvPr/>
        </p:nvSpPr>
        <p:spPr>
          <a:xfrm rot="0">
            <a:off x="8181989" y="4517856"/>
            <a:ext cx="9419206" cy="2722875"/>
          </a:xfrm>
          <a:prstGeom prst="rect">
            <a:avLst/>
          </a:prstGeom>
        </p:spPr>
        <p:txBody>
          <a:bodyPr anchor="t" rtlCol="false" tIns="0" lIns="0" bIns="0" rIns="0">
            <a:spAutoFit/>
          </a:bodyPr>
          <a:lstStyle/>
          <a:p>
            <a:pPr algn="just">
              <a:lnSpc>
                <a:spcPts val="2686"/>
              </a:lnSpc>
            </a:pPr>
            <a:r>
              <a:rPr lang="en-US" sz="2277" spc="4">
                <a:solidFill>
                  <a:srgbClr val="FFFFFF"/>
                </a:solidFill>
                <a:latin typeface="Montserrat"/>
                <a:ea typeface="Montserrat"/>
                <a:cs typeface="Montserrat"/>
                <a:sym typeface="Montserrat"/>
              </a:rPr>
              <a:t>LLMs are powerful but unreliable in critical domains. They can hallucinate facts, ignore expert reasoning workflows, and provide answers without verified sources. In areas like healthcare, finance, and cloud architecture, such inaccuracies can lead to serious consequences. There is a need for a structured middleware layer that enforces domain-specific reasoning and ensures responses are grounded in verified sources.</a:t>
            </a:r>
          </a:p>
        </p:txBody>
      </p:sp>
      <p:sp>
        <p:nvSpPr>
          <p:cNvPr name="TextBox 16" id="16"/>
          <p:cNvSpPr txBox="true"/>
          <p:nvPr/>
        </p:nvSpPr>
        <p:spPr>
          <a:xfrm rot="0">
            <a:off x="949763" y="740947"/>
            <a:ext cx="1761862" cy="37259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Montserrat Heavy"/>
                <a:ea typeface="Montserrat Heavy"/>
                <a:cs typeface="Montserrat Heavy"/>
                <a:sym typeface="Montserrat Heavy"/>
              </a:rPr>
              <a:t>Neural</a:t>
            </a:r>
          </a:p>
        </p:txBody>
      </p:sp>
      <p:sp>
        <p:nvSpPr>
          <p:cNvPr name="TextBox 17" id="17"/>
          <p:cNvSpPr txBox="true"/>
          <p:nvPr/>
        </p:nvSpPr>
        <p:spPr>
          <a:xfrm rot="0">
            <a:off x="2062637" y="740393"/>
            <a:ext cx="1761862" cy="37259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Montserrat"/>
                <a:ea typeface="Montserrat"/>
                <a:cs typeface="Montserrat"/>
                <a:sym typeface="Montserrat"/>
              </a:rPr>
              <a:t>Nexus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513352" y="667880"/>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18FF"/>
            </a:soli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5762422" y="764137"/>
            <a:ext cx="1421291" cy="330200"/>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Montserrat Bold"/>
                <a:ea typeface="Montserrat Bold"/>
                <a:cs typeface="Montserrat Bold"/>
                <a:sym typeface="Montserrat Bold"/>
              </a:rPr>
              <a:t>Page 03</a:t>
            </a:r>
          </a:p>
        </p:txBody>
      </p:sp>
      <p:sp>
        <p:nvSpPr>
          <p:cNvPr name="TextBox 6" id="6"/>
          <p:cNvSpPr txBox="true"/>
          <p:nvPr/>
        </p:nvSpPr>
        <p:spPr>
          <a:xfrm rot="0">
            <a:off x="1446325" y="2063520"/>
            <a:ext cx="13305019" cy="1741663"/>
          </a:xfrm>
          <a:prstGeom prst="rect">
            <a:avLst/>
          </a:prstGeom>
        </p:spPr>
        <p:txBody>
          <a:bodyPr anchor="t" rtlCol="false" tIns="0" lIns="0" bIns="0" rIns="0">
            <a:spAutoFit/>
          </a:bodyPr>
          <a:lstStyle/>
          <a:p>
            <a:pPr algn="just" marL="0" indent="0" lvl="0">
              <a:lnSpc>
                <a:spcPts val="14252"/>
              </a:lnSpc>
              <a:spcBef>
                <a:spcPct val="0"/>
              </a:spcBef>
            </a:pPr>
            <a:r>
              <a:rPr lang="en-US" sz="10180" spc="-621">
                <a:solidFill>
                  <a:srgbClr val="FFFFFF"/>
                </a:solidFill>
                <a:latin typeface="Montserrat"/>
                <a:ea typeface="Montserrat"/>
                <a:cs typeface="Montserrat"/>
                <a:sym typeface="Montserrat"/>
              </a:rPr>
              <a:t>Core LLM</a:t>
            </a:r>
          </a:p>
        </p:txBody>
      </p:sp>
      <p:sp>
        <p:nvSpPr>
          <p:cNvPr name="TextBox 7" id="7"/>
          <p:cNvSpPr txBox="true"/>
          <p:nvPr/>
        </p:nvSpPr>
        <p:spPr>
          <a:xfrm rot="0">
            <a:off x="1470572" y="3643258"/>
            <a:ext cx="9138128" cy="1418958"/>
          </a:xfrm>
          <a:prstGeom prst="rect">
            <a:avLst/>
          </a:prstGeom>
        </p:spPr>
        <p:txBody>
          <a:bodyPr anchor="t" rtlCol="false" tIns="0" lIns="0" bIns="0" rIns="0">
            <a:spAutoFit/>
          </a:bodyPr>
          <a:lstStyle/>
          <a:p>
            <a:pPr algn="just" marL="0" indent="0" lvl="0">
              <a:lnSpc>
                <a:spcPts val="11564"/>
              </a:lnSpc>
              <a:spcBef>
                <a:spcPct val="0"/>
              </a:spcBef>
            </a:pPr>
            <a:r>
              <a:rPr lang="en-US" b="true" sz="8260" spc="-503">
                <a:solidFill>
                  <a:srgbClr val="FFFFFF"/>
                </a:solidFill>
                <a:latin typeface="Montserrat Bold"/>
                <a:ea typeface="Montserrat Bold"/>
                <a:cs typeface="Montserrat Bold"/>
                <a:sym typeface="Montserrat Bold"/>
              </a:rPr>
              <a:t>Challenges</a:t>
            </a:r>
          </a:p>
        </p:txBody>
      </p:sp>
      <p:sp>
        <p:nvSpPr>
          <p:cNvPr name="TextBox 8" id="8"/>
          <p:cNvSpPr txBox="true"/>
          <p:nvPr/>
        </p:nvSpPr>
        <p:spPr>
          <a:xfrm rot="0">
            <a:off x="8535156" y="2263545"/>
            <a:ext cx="3711567" cy="319913"/>
          </a:xfrm>
          <a:prstGeom prst="rect">
            <a:avLst/>
          </a:prstGeom>
        </p:spPr>
        <p:txBody>
          <a:bodyPr anchor="t" rtlCol="false" tIns="0" lIns="0" bIns="0" rIns="0">
            <a:spAutoFit/>
          </a:bodyPr>
          <a:lstStyle/>
          <a:p>
            <a:pPr algn="l" marL="474979" indent="-237490" lvl="1">
              <a:lnSpc>
                <a:spcPts val="2595"/>
              </a:lnSpc>
              <a:buAutoNum type="arabicPeriod" startAt="1"/>
            </a:pPr>
            <a:r>
              <a:rPr lang="en-US" sz="2199" i="true" spc="4">
                <a:solidFill>
                  <a:srgbClr val="FFFFFF"/>
                </a:solidFill>
                <a:latin typeface="Montserrat Italics"/>
                <a:ea typeface="Montserrat Italics"/>
                <a:cs typeface="Montserrat Italics"/>
                <a:sym typeface="Montserrat Italics"/>
              </a:rPr>
              <a:t> </a:t>
            </a:r>
            <a:r>
              <a:rPr lang="en-US" b="true" sz="2199" i="true" spc="4">
                <a:solidFill>
                  <a:srgbClr val="FFFFFF"/>
                </a:solidFill>
                <a:latin typeface="Montserrat Bold Italics"/>
                <a:ea typeface="Montserrat Bold Italics"/>
                <a:cs typeface="Montserrat Bold Italics"/>
                <a:sym typeface="Montserrat Bold Italics"/>
              </a:rPr>
              <a:t>Hallucination </a:t>
            </a:r>
            <a:r>
              <a:rPr lang="en-US" sz="2199" i="true" spc="4">
                <a:solidFill>
                  <a:srgbClr val="FFFFFF"/>
                </a:solidFill>
                <a:latin typeface="Montserrat Italics"/>
                <a:ea typeface="Montserrat Italics"/>
                <a:cs typeface="Montserrat Italics"/>
                <a:sym typeface="Montserrat Italics"/>
              </a:rPr>
              <a:t>of facts</a:t>
            </a:r>
          </a:p>
        </p:txBody>
      </p:sp>
      <p:grpSp>
        <p:nvGrpSpPr>
          <p:cNvPr name="Group 9" id="9"/>
          <p:cNvGrpSpPr/>
          <p:nvPr/>
        </p:nvGrpSpPr>
        <p:grpSpPr>
          <a:xfrm rot="0">
            <a:off x="11159174" y="5078675"/>
            <a:ext cx="1367946" cy="136794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8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871"/>
                </a:lnSpc>
              </a:pPr>
            </a:p>
          </p:txBody>
        </p:sp>
      </p:grpSp>
      <p:sp>
        <p:nvSpPr>
          <p:cNvPr name="Freeform 12" id="12"/>
          <p:cNvSpPr/>
          <p:nvPr/>
        </p:nvSpPr>
        <p:spPr>
          <a:xfrm flipH="true" flipV="false" rot="0">
            <a:off x="3243294" y="6446622"/>
            <a:ext cx="2796342" cy="2811678"/>
          </a:xfrm>
          <a:custGeom>
            <a:avLst/>
            <a:gdLst/>
            <a:ahLst/>
            <a:cxnLst/>
            <a:rect r="r" b="b" t="t" l="l"/>
            <a:pathLst>
              <a:path h="2811678" w="2796342">
                <a:moveTo>
                  <a:pt x="2796342" y="0"/>
                </a:moveTo>
                <a:lnTo>
                  <a:pt x="0" y="0"/>
                </a:lnTo>
                <a:lnTo>
                  <a:pt x="0" y="2811678"/>
                </a:lnTo>
                <a:lnTo>
                  <a:pt x="2796342" y="2811678"/>
                </a:lnTo>
                <a:lnTo>
                  <a:pt x="279634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true" flipV="false" rot="0">
            <a:off x="1470572" y="6446622"/>
            <a:ext cx="2796342" cy="2811678"/>
          </a:xfrm>
          <a:custGeom>
            <a:avLst/>
            <a:gdLst/>
            <a:ahLst/>
            <a:cxnLst/>
            <a:rect r="r" b="b" t="t" l="l"/>
            <a:pathLst>
              <a:path h="2811678" w="2796342">
                <a:moveTo>
                  <a:pt x="2796342" y="0"/>
                </a:moveTo>
                <a:lnTo>
                  <a:pt x="0" y="0"/>
                </a:lnTo>
                <a:lnTo>
                  <a:pt x="0" y="2811678"/>
                </a:lnTo>
                <a:lnTo>
                  <a:pt x="2796342" y="2811678"/>
                </a:lnTo>
                <a:lnTo>
                  <a:pt x="279634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8535156" y="2897783"/>
            <a:ext cx="3711567" cy="643763"/>
          </a:xfrm>
          <a:prstGeom prst="rect">
            <a:avLst/>
          </a:prstGeom>
        </p:spPr>
        <p:txBody>
          <a:bodyPr anchor="t" rtlCol="false" tIns="0" lIns="0" bIns="0" rIns="0">
            <a:spAutoFit/>
          </a:bodyPr>
          <a:lstStyle/>
          <a:p>
            <a:pPr algn="l" marL="474979" indent="-237490" lvl="1">
              <a:lnSpc>
                <a:spcPts val="2595"/>
              </a:lnSpc>
              <a:buAutoNum type="arabicPeriod" startAt="1"/>
            </a:pPr>
            <a:r>
              <a:rPr lang="en-US" sz="2199" i="true" spc="4">
                <a:solidFill>
                  <a:srgbClr val="FFFFFF"/>
                </a:solidFill>
                <a:latin typeface="Montserrat Italics"/>
                <a:ea typeface="Montserrat Italics"/>
                <a:cs typeface="Montserrat Italics"/>
                <a:sym typeface="Montserrat Italics"/>
              </a:rPr>
              <a:t> Unclear </a:t>
            </a:r>
            <a:r>
              <a:rPr lang="en-US" b="true" sz="2199" i="true" spc="4">
                <a:solidFill>
                  <a:srgbClr val="FFFFFF"/>
                </a:solidFill>
                <a:latin typeface="Montserrat Bold Italics"/>
                <a:ea typeface="Montserrat Bold Italics"/>
                <a:cs typeface="Montserrat Bold Italics"/>
                <a:sym typeface="Montserrat Bold Italics"/>
              </a:rPr>
              <a:t>domain </a:t>
            </a:r>
            <a:r>
              <a:rPr lang="en-US" sz="2199" i="true" spc="4">
                <a:solidFill>
                  <a:srgbClr val="FFFFFF"/>
                </a:solidFill>
                <a:latin typeface="Montserrat Italics"/>
                <a:ea typeface="Montserrat Italics"/>
                <a:cs typeface="Montserrat Italics"/>
                <a:sym typeface="Montserrat Italics"/>
              </a:rPr>
              <a:t>understanding</a:t>
            </a:r>
          </a:p>
        </p:txBody>
      </p:sp>
      <p:sp>
        <p:nvSpPr>
          <p:cNvPr name="TextBox 15" id="15"/>
          <p:cNvSpPr txBox="true"/>
          <p:nvPr/>
        </p:nvSpPr>
        <p:spPr>
          <a:xfrm rot="0">
            <a:off x="8535156" y="3855617"/>
            <a:ext cx="3711567" cy="643763"/>
          </a:xfrm>
          <a:prstGeom prst="rect">
            <a:avLst/>
          </a:prstGeom>
        </p:spPr>
        <p:txBody>
          <a:bodyPr anchor="t" rtlCol="false" tIns="0" lIns="0" bIns="0" rIns="0">
            <a:spAutoFit/>
          </a:bodyPr>
          <a:lstStyle/>
          <a:p>
            <a:pPr algn="l" marL="474979" indent="-237490" lvl="1">
              <a:lnSpc>
                <a:spcPts val="2595"/>
              </a:lnSpc>
              <a:buAutoNum type="arabicPeriod" startAt="1"/>
            </a:pPr>
            <a:r>
              <a:rPr lang="en-US" sz="2199" i="true" spc="4">
                <a:solidFill>
                  <a:srgbClr val="FFFFFF"/>
                </a:solidFill>
                <a:latin typeface="Montserrat Italics"/>
                <a:ea typeface="Montserrat Italics"/>
                <a:cs typeface="Montserrat Italics"/>
                <a:sym typeface="Montserrat Italics"/>
              </a:rPr>
              <a:t> Lack of </a:t>
            </a:r>
            <a:r>
              <a:rPr lang="en-US" b="true" sz="2199" i="true" spc="4">
                <a:solidFill>
                  <a:srgbClr val="FFFFFF"/>
                </a:solidFill>
                <a:latin typeface="Montserrat Bold Italics"/>
                <a:ea typeface="Montserrat Bold Italics"/>
                <a:cs typeface="Montserrat Bold Italics"/>
                <a:sym typeface="Montserrat Bold Italics"/>
              </a:rPr>
              <a:t>confidence </a:t>
            </a:r>
            <a:r>
              <a:rPr lang="en-US" sz="2199" i="true" spc="4">
                <a:solidFill>
                  <a:srgbClr val="FFFFFF"/>
                </a:solidFill>
                <a:latin typeface="Montserrat Italics"/>
                <a:ea typeface="Montserrat Italics"/>
                <a:cs typeface="Montserrat Italics"/>
                <a:sym typeface="Montserrat Italics"/>
              </a:rPr>
              <a:t>validation</a:t>
            </a:r>
          </a:p>
        </p:txBody>
      </p:sp>
      <p:sp>
        <p:nvSpPr>
          <p:cNvPr name="TextBox 16" id="16"/>
          <p:cNvSpPr txBox="true"/>
          <p:nvPr/>
        </p:nvSpPr>
        <p:spPr>
          <a:xfrm rot="0">
            <a:off x="12642416" y="7022458"/>
            <a:ext cx="4448448" cy="319913"/>
          </a:xfrm>
          <a:prstGeom prst="rect">
            <a:avLst/>
          </a:prstGeom>
        </p:spPr>
        <p:txBody>
          <a:bodyPr anchor="t" rtlCol="false" tIns="0" lIns="0" bIns="0" rIns="0">
            <a:spAutoFit/>
          </a:bodyPr>
          <a:lstStyle/>
          <a:p>
            <a:pPr algn="just" marL="474979" indent="-237490" lvl="1">
              <a:lnSpc>
                <a:spcPts val="2595"/>
              </a:lnSpc>
              <a:buAutoNum type="arabicPeriod" startAt="1"/>
            </a:pPr>
            <a:r>
              <a:rPr lang="en-US" sz="2199" i="true" spc="4">
                <a:solidFill>
                  <a:srgbClr val="FFFFFF"/>
                </a:solidFill>
                <a:latin typeface="Montserrat Italics"/>
                <a:ea typeface="Montserrat Italics"/>
                <a:cs typeface="Montserrat Italics"/>
                <a:sym typeface="Montserrat Italics"/>
              </a:rPr>
              <a:t> No modular </a:t>
            </a:r>
            <a:r>
              <a:rPr lang="en-US" b="true" sz="2199" i="true" spc="4">
                <a:solidFill>
                  <a:srgbClr val="FFFFFF"/>
                </a:solidFill>
                <a:latin typeface="Montserrat Bold Italics"/>
                <a:ea typeface="Montserrat Bold Italics"/>
                <a:cs typeface="Montserrat Bold Italics"/>
                <a:sym typeface="Montserrat Bold Italics"/>
              </a:rPr>
              <a:t>expert control</a:t>
            </a:r>
          </a:p>
        </p:txBody>
      </p:sp>
      <p:sp>
        <p:nvSpPr>
          <p:cNvPr name="TextBox 17" id="17"/>
          <p:cNvSpPr txBox="true"/>
          <p:nvPr/>
        </p:nvSpPr>
        <p:spPr>
          <a:xfrm rot="0">
            <a:off x="12840782" y="7666221"/>
            <a:ext cx="4250082" cy="643763"/>
          </a:xfrm>
          <a:prstGeom prst="rect">
            <a:avLst/>
          </a:prstGeom>
        </p:spPr>
        <p:txBody>
          <a:bodyPr anchor="t" rtlCol="false" tIns="0" lIns="0" bIns="0" rIns="0">
            <a:spAutoFit/>
          </a:bodyPr>
          <a:lstStyle/>
          <a:p>
            <a:pPr algn="just">
              <a:lnSpc>
                <a:spcPts val="2595"/>
              </a:lnSpc>
            </a:pPr>
            <a:r>
              <a:rPr lang="en-US" sz="2199" i="true" spc="4">
                <a:solidFill>
                  <a:srgbClr val="FFFFFF"/>
                </a:solidFill>
                <a:latin typeface="Montserrat Italics"/>
                <a:ea typeface="Montserrat Italics"/>
                <a:cs typeface="Montserrat Italics"/>
                <a:sym typeface="Montserrat Italics"/>
              </a:rPr>
              <a:t>5. No gaurenteed </a:t>
            </a:r>
            <a:r>
              <a:rPr lang="en-US" b="true" sz="2199" i="true" spc="4">
                <a:solidFill>
                  <a:srgbClr val="FFFFFF"/>
                </a:solidFill>
                <a:latin typeface="Montserrat Bold Italics"/>
                <a:ea typeface="Montserrat Bold Italics"/>
                <a:cs typeface="Montserrat Bold Italics"/>
                <a:sym typeface="Montserrat Bold Italics"/>
              </a:rPr>
              <a:t>source-of -truth</a:t>
            </a:r>
          </a:p>
        </p:txBody>
      </p:sp>
      <p:sp>
        <p:nvSpPr>
          <p:cNvPr name="TextBox 18" id="18"/>
          <p:cNvSpPr txBox="true"/>
          <p:nvPr/>
        </p:nvSpPr>
        <p:spPr>
          <a:xfrm rot="0">
            <a:off x="12642416" y="8633834"/>
            <a:ext cx="3711567" cy="319913"/>
          </a:xfrm>
          <a:prstGeom prst="rect">
            <a:avLst/>
          </a:prstGeom>
        </p:spPr>
        <p:txBody>
          <a:bodyPr anchor="t" rtlCol="false" tIns="0" lIns="0" bIns="0" rIns="0">
            <a:spAutoFit/>
          </a:bodyPr>
          <a:lstStyle/>
          <a:p>
            <a:pPr algn="just" marL="474979" indent="-237490" lvl="1">
              <a:lnSpc>
                <a:spcPts val="2595"/>
              </a:lnSpc>
              <a:buAutoNum type="arabicPeriod" startAt="1"/>
            </a:pPr>
            <a:r>
              <a:rPr lang="en-US" sz="2199" i="true" spc="4">
                <a:solidFill>
                  <a:srgbClr val="FFFFFF"/>
                </a:solidFill>
                <a:latin typeface="Montserrat Italics"/>
                <a:ea typeface="Montserrat Italics"/>
                <a:cs typeface="Montserrat Italics"/>
                <a:sym typeface="Montserrat Italics"/>
              </a:rPr>
              <a:t> </a:t>
            </a:r>
            <a:r>
              <a:rPr lang="en-US" b="true" sz="2199" i="true" spc="4">
                <a:solidFill>
                  <a:srgbClr val="FFFFFF"/>
                </a:solidFill>
                <a:latin typeface="Montserrat Bold Italics"/>
                <a:ea typeface="Montserrat Bold Italics"/>
                <a:cs typeface="Montserrat Bold Italics"/>
                <a:sym typeface="Montserrat Bold Italics"/>
              </a:rPr>
              <a:t>Generic </a:t>
            </a:r>
            <a:r>
              <a:rPr lang="en-US" sz="2199" i="true" spc="4">
                <a:solidFill>
                  <a:srgbClr val="FFFFFF"/>
                </a:solidFill>
                <a:latin typeface="Montserrat Italics"/>
                <a:ea typeface="Montserrat Italics"/>
                <a:cs typeface="Montserrat Italics"/>
                <a:sym typeface="Montserrat Italics"/>
              </a:rPr>
              <a:t>responses</a:t>
            </a:r>
          </a:p>
        </p:txBody>
      </p:sp>
      <p:sp>
        <p:nvSpPr>
          <p:cNvPr name="TextBox 19" id="19"/>
          <p:cNvSpPr txBox="true"/>
          <p:nvPr/>
        </p:nvSpPr>
        <p:spPr>
          <a:xfrm rot="0">
            <a:off x="949763" y="740947"/>
            <a:ext cx="1761862" cy="37259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Montserrat Heavy"/>
                <a:ea typeface="Montserrat Heavy"/>
                <a:cs typeface="Montserrat Heavy"/>
                <a:sym typeface="Montserrat Heavy"/>
              </a:rPr>
              <a:t>Neural</a:t>
            </a:r>
          </a:p>
        </p:txBody>
      </p:sp>
      <p:sp>
        <p:nvSpPr>
          <p:cNvPr name="TextBox 20" id="20"/>
          <p:cNvSpPr txBox="true"/>
          <p:nvPr/>
        </p:nvSpPr>
        <p:spPr>
          <a:xfrm rot="0">
            <a:off x="2062637" y="740393"/>
            <a:ext cx="1761862" cy="37259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Montserrat"/>
                <a:ea typeface="Montserrat"/>
                <a:cs typeface="Montserrat"/>
                <a:sym typeface="Montserrat"/>
              </a:rPr>
              <a:t>Nexus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699252" y="575629"/>
            <a:ext cx="2683275" cy="1172321"/>
            <a:chOff x="0" y="0"/>
            <a:chExt cx="959260" cy="419100"/>
          </a:xfrm>
        </p:grpSpPr>
        <p:sp>
          <p:nvSpPr>
            <p:cNvPr name="Freeform 3" id="3"/>
            <p:cNvSpPr/>
            <p:nvPr/>
          </p:nvSpPr>
          <p:spPr>
            <a:xfrm flipH="false" flipV="false" rot="0">
              <a:off x="0" y="0"/>
              <a:ext cx="959260" cy="419100"/>
            </a:xfrm>
            <a:custGeom>
              <a:avLst/>
              <a:gdLst/>
              <a:ahLst/>
              <a:cxnLst/>
              <a:rect r="r" b="b" t="t" l="l"/>
              <a:pathLst>
                <a:path h="419100" w="959260">
                  <a:moveTo>
                    <a:pt x="56353" y="0"/>
                  </a:moveTo>
                  <a:lnTo>
                    <a:pt x="902907" y="0"/>
                  </a:lnTo>
                  <a:cubicBezTo>
                    <a:pt x="917853" y="0"/>
                    <a:pt x="932186" y="5937"/>
                    <a:pt x="942754" y="16505"/>
                  </a:cubicBezTo>
                  <a:cubicBezTo>
                    <a:pt x="953322" y="27073"/>
                    <a:pt x="959260" y="41407"/>
                    <a:pt x="959260" y="56353"/>
                  </a:cubicBezTo>
                  <a:lnTo>
                    <a:pt x="959260" y="362747"/>
                  </a:lnTo>
                  <a:cubicBezTo>
                    <a:pt x="959260" y="377693"/>
                    <a:pt x="953322" y="392027"/>
                    <a:pt x="942754" y="402595"/>
                  </a:cubicBezTo>
                  <a:cubicBezTo>
                    <a:pt x="932186" y="413163"/>
                    <a:pt x="917853" y="419100"/>
                    <a:pt x="902907" y="419100"/>
                  </a:cubicBezTo>
                  <a:lnTo>
                    <a:pt x="56353" y="419100"/>
                  </a:lnTo>
                  <a:cubicBezTo>
                    <a:pt x="41407" y="419100"/>
                    <a:pt x="27073" y="413163"/>
                    <a:pt x="16505" y="402595"/>
                  </a:cubicBezTo>
                  <a:cubicBezTo>
                    <a:pt x="5937" y="392027"/>
                    <a:pt x="0" y="377693"/>
                    <a:pt x="0" y="362747"/>
                  </a:cubicBezTo>
                  <a:lnTo>
                    <a:pt x="0" y="56353"/>
                  </a:lnTo>
                  <a:cubicBezTo>
                    <a:pt x="0" y="41407"/>
                    <a:pt x="5937" y="27073"/>
                    <a:pt x="16505" y="16505"/>
                  </a:cubicBezTo>
                  <a:cubicBezTo>
                    <a:pt x="27073" y="5937"/>
                    <a:pt x="41407" y="0"/>
                    <a:pt x="56353" y="0"/>
                  </a:cubicBezTo>
                  <a:close/>
                </a:path>
              </a:pathLst>
            </a:custGeom>
            <a:solidFill>
              <a:srgbClr val="BA9BC9"/>
            </a:solidFill>
          </p:spPr>
        </p:sp>
        <p:sp>
          <p:nvSpPr>
            <p:cNvPr name="TextBox 4" id="4"/>
            <p:cNvSpPr txBox="true"/>
            <p:nvPr/>
          </p:nvSpPr>
          <p:spPr>
            <a:xfrm>
              <a:off x="0" y="-38100"/>
              <a:ext cx="959260" cy="457200"/>
            </a:xfrm>
            <a:prstGeom prst="rect">
              <a:avLst/>
            </a:prstGeom>
          </p:spPr>
          <p:txBody>
            <a:bodyPr anchor="ctr" rtlCol="false" tIns="50800" lIns="50800" bIns="50800" rIns="50800"/>
            <a:lstStyle/>
            <a:p>
              <a:pPr algn="ctr">
                <a:lnSpc>
                  <a:spcPts val="2871"/>
                </a:lnSpc>
              </a:pPr>
              <a:r>
                <a:rPr lang="en-US" sz="2051" spc="4">
                  <a:solidFill>
                    <a:srgbClr val="FFFFFF"/>
                  </a:solidFill>
                  <a:latin typeface="League Spartan"/>
                  <a:ea typeface="League Spartan"/>
                  <a:cs typeface="League Spartan"/>
                  <a:sym typeface="League Spartan"/>
                </a:rPr>
                <a:t>USER INPUT</a:t>
              </a:r>
            </a:p>
          </p:txBody>
        </p:sp>
      </p:grpSp>
      <p:sp>
        <p:nvSpPr>
          <p:cNvPr name="AutoShape 5" id="5"/>
          <p:cNvSpPr/>
          <p:nvPr/>
        </p:nvSpPr>
        <p:spPr>
          <a:xfrm>
            <a:off x="3592726" y="1180839"/>
            <a:ext cx="1558996" cy="19049"/>
          </a:xfrm>
          <a:prstGeom prst="line">
            <a:avLst/>
          </a:prstGeom>
          <a:ln cap="flat" w="38100">
            <a:solidFill>
              <a:srgbClr val="FFFFFF"/>
            </a:solidFill>
            <a:prstDash val="solid"/>
            <a:headEnd type="none" len="sm" w="sm"/>
            <a:tailEnd type="arrow" len="sm" w="med"/>
          </a:ln>
        </p:spPr>
      </p:sp>
      <p:grpSp>
        <p:nvGrpSpPr>
          <p:cNvPr name="Group 6" id="6"/>
          <p:cNvGrpSpPr/>
          <p:nvPr/>
        </p:nvGrpSpPr>
        <p:grpSpPr>
          <a:xfrm rot="0">
            <a:off x="5361921" y="537530"/>
            <a:ext cx="3967057" cy="1733205"/>
            <a:chOff x="0" y="0"/>
            <a:chExt cx="959260" cy="419100"/>
          </a:xfrm>
        </p:grpSpPr>
        <p:sp>
          <p:nvSpPr>
            <p:cNvPr name="Freeform 7" id="7"/>
            <p:cNvSpPr/>
            <p:nvPr/>
          </p:nvSpPr>
          <p:spPr>
            <a:xfrm flipH="false" flipV="false" rot="0">
              <a:off x="0" y="0"/>
              <a:ext cx="959260" cy="419100"/>
            </a:xfrm>
            <a:custGeom>
              <a:avLst/>
              <a:gdLst/>
              <a:ahLst/>
              <a:cxnLst/>
              <a:rect r="r" b="b" t="t" l="l"/>
              <a:pathLst>
                <a:path h="419100" w="959260">
                  <a:moveTo>
                    <a:pt x="38116" y="0"/>
                  </a:moveTo>
                  <a:lnTo>
                    <a:pt x="921143" y="0"/>
                  </a:lnTo>
                  <a:cubicBezTo>
                    <a:pt x="931252" y="0"/>
                    <a:pt x="940947" y="4016"/>
                    <a:pt x="948096" y="11164"/>
                  </a:cubicBezTo>
                  <a:cubicBezTo>
                    <a:pt x="955244" y="18312"/>
                    <a:pt x="959260" y="28007"/>
                    <a:pt x="959260" y="38116"/>
                  </a:cubicBezTo>
                  <a:lnTo>
                    <a:pt x="959260" y="380984"/>
                  </a:lnTo>
                  <a:cubicBezTo>
                    <a:pt x="959260" y="391093"/>
                    <a:pt x="955244" y="400788"/>
                    <a:pt x="948096" y="407936"/>
                  </a:cubicBezTo>
                  <a:cubicBezTo>
                    <a:pt x="940947" y="415084"/>
                    <a:pt x="931252" y="419100"/>
                    <a:pt x="921143" y="419100"/>
                  </a:cubicBezTo>
                  <a:lnTo>
                    <a:pt x="38116" y="419100"/>
                  </a:lnTo>
                  <a:cubicBezTo>
                    <a:pt x="28007" y="419100"/>
                    <a:pt x="18312" y="415084"/>
                    <a:pt x="11164" y="407936"/>
                  </a:cubicBezTo>
                  <a:cubicBezTo>
                    <a:pt x="4016" y="400788"/>
                    <a:pt x="0" y="391093"/>
                    <a:pt x="0" y="380984"/>
                  </a:cubicBezTo>
                  <a:lnTo>
                    <a:pt x="0" y="38116"/>
                  </a:lnTo>
                  <a:cubicBezTo>
                    <a:pt x="0" y="28007"/>
                    <a:pt x="4016" y="18312"/>
                    <a:pt x="11164" y="11164"/>
                  </a:cubicBezTo>
                  <a:cubicBezTo>
                    <a:pt x="18312" y="4016"/>
                    <a:pt x="28007" y="0"/>
                    <a:pt x="38116" y="0"/>
                  </a:cubicBezTo>
                  <a:close/>
                </a:path>
              </a:pathLst>
            </a:custGeom>
            <a:gradFill rotWithShape="true">
              <a:gsLst>
                <a:gs pos="0">
                  <a:srgbClr val="89D957">
                    <a:alpha val="100000"/>
                  </a:srgbClr>
                </a:gs>
                <a:gs pos="100000">
                  <a:srgbClr val="C9E265">
                    <a:alpha val="100000"/>
                  </a:srgbClr>
                </a:gs>
              </a:gsLst>
              <a:lin ang="0"/>
            </a:gradFill>
          </p:spPr>
        </p:sp>
        <p:sp>
          <p:nvSpPr>
            <p:cNvPr name="TextBox 8" id="8"/>
            <p:cNvSpPr txBox="true"/>
            <p:nvPr/>
          </p:nvSpPr>
          <p:spPr>
            <a:xfrm>
              <a:off x="0" y="-38100"/>
              <a:ext cx="959260" cy="457200"/>
            </a:xfrm>
            <a:prstGeom prst="rect">
              <a:avLst/>
            </a:prstGeom>
          </p:spPr>
          <p:txBody>
            <a:bodyPr anchor="ctr" rtlCol="false" tIns="50800" lIns="50800" bIns="50800" rIns="50800"/>
            <a:lstStyle/>
            <a:p>
              <a:pPr algn="ctr">
                <a:lnSpc>
                  <a:spcPts val="2871"/>
                </a:lnSpc>
              </a:pPr>
              <a:r>
                <a:rPr lang="en-US" b="true" sz="2051" spc="4">
                  <a:solidFill>
                    <a:srgbClr val="211B20"/>
                  </a:solidFill>
                  <a:latin typeface="Montserrat Bold"/>
                  <a:ea typeface="Montserrat Bold"/>
                  <a:cs typeface="Montserrat Bold"/>
                  <a:sym typeface="Montserrat Bold"/>
                </a:rPr>
                <a:t>DOMAIN Router</a:t>
              </a:r>
            </a:p>
            <a:p>
              <a:pPr algn="ctr">
                <a:lnSpc>
                  <a:spcPts val="2871"/>
                </a:lnSpc>
              </a:pPr>
            </a:p>
            <a:p>
              <a:pPr algn="ctr">
                <a:lnSpc>
                  <a:spcPts val="2871"/>
                </a:lnSpc>
              </a:pPr>
              <a:r>
                <a:rPr lang="en-US" b="true" sz="2051" spc="4">
                  <a:solidFill>
                    <a:srgbClr val="FFFFFF"/>
                  </a:solidFill>
                  <a:latin typeface="Montserrat Bold"/>
                  <a:ea typeface="Montserrat Bold"/>
                  <a:cs typeface="Montserrat Bold"/>
                  <a:sym typeface="Montserrat Bold"/>
                </a:rPr>
                <a:t>Regex / LLM / Embedding</a:t>
              </a:r>
            </a:p>
          </p:txBody>
        </p:sp>
      </p:grpSp>
      <p:grpSp>
        <p:nvGrpSpPr>
          <p:cNvPr name="Group 9" id="9"/>
          <p:cNvGrpSpPr/>
          <p:nvPr/>
        </p:nvGrpSpPr>
        <p:grpSpPr>
          <a:xfrm rot="0">
            <a:off x="10698708" y="1747951"/>
            <a:ext cx="5364737" cy="1543050"/>
            <a:chOff x="0" y="0"/>
            <a:chExt cx="1412935" cy="406400"/>
          </a:xfrm>
        </p:grpSpPr>
        <p:sp>
          <p:nvSpPr>
            <p:cNvPr name="Freeform 10" id="10"/>
            <p:cNvSpPr/>
            <p:nvPr/>
          </p:nvSpPr>
          <p:spPr>
            <a:xfrm flipH="false" flipV="false" rot="0">
              <a:off x="0" y="0"/>
              <a:ext cx="1412935" cy="406400"/>
            </a:xfrm>
            <a:custGeom>
              <a:avLst/>
              <a:gdLst/>
              <a:ahLst/>
              <a:cxnLst/>
              <a:rect r="r" b="b" t="t" l="l"/>
              <a:pathLst>
                <a:path h="406400" w="1412935">
                  <a:moveTo>
                    <a:pt x="1209735" y="0"/>
                  </a:moveTo>
                  <a:cubicBezTo>
                    <a:pt x="1321959" y="0"/>
                    <a:pt x="1412935" y="90976"/>
                    <a:pt x="1412935" y="203200"/>
                  </a:cubicBezTo>
                  <a:cubicBezTo>
                    <a:pt x="1412935" y="315424"/>
                    <a:pt x="1321959" y="406400"/>
                    <a:pt x="120973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F5757">
                    <a:alpha val="100000"/>
                  </a:srgbClr>
                </a:gs>
                <a:gs pos="100000">
                  <a:srgbClr val="8C52FF">
                    <a:alpha val="100000"/>
                  </a:srgbClr>
                </a:gs>
              </a:gsLst>
              <a:lin ang="0"/>
            </a:gradFill>
          </p:spPr>
        </p:sp>
        <p:sp>
          <p:nvSpPr>
            <p:cNvPr name="TextBox 11" id="11"/>
            <p:cNvSpPr txBox="true"/>
            <p:nvPr/>
          </p:nvSpPr>
          <p:spPr>
            <a:xfrm>
              <a:off x="0" y="-38100"/>
              <a:ext cx="1412935" cy="444500"/>
            </a:xfrm>
            <a:prstGeom prst="rect">
              <a:avLst/>
            </a:prstGeom>
          </p:spPr>
          <p:txBody>
            <a:bodyPr anchor="ctr" rtlCol="false" tIns="50800" lIns="50800" bIns="50800" rIns="50800"/>
            <a:lstStyle/>
            <a:p>
              <a:pPr algn="ctr">
                <a:lnSpc>
                  <a:spcPts val="2871"/>
                </a:lnSpc>
              </a:pPr>
              <a:r>
                <a:rPr lang="en-US" sz="2051" spc="4">
                  <a:solidFill>
                    <a:srgbClr val="000000"/>
                  </a:solidFill>
                  <a:latin typeface="Montserrat"/>
                  <a:ea typeface="Montserrat"/>
                  <a:cs typeface="Montserrat"/>
                  <a:sym typeface="Montserrat"/>
                </a:rPr>
                <a:t>DNA Capsule</a:t>
              </a:r>
            </a:p>
            <a:p>
              <a:pPr algn="ctr">
                <a:lnSpc>
                  <a:spcPts val="2871"/>
                </a:lnSpc>
              </a:pPr>
              <a:r>
                <a:rPr lang="en-US" sz="2051" spc="4">
                  <a:solidFill>
                    <a:srgbClr val="FFFFFF"/>
                  </a:solidFill>
                  <a:latin typeface="Montserrat"/>
                  <a:ea typeface="Montserrat"/>
                  <a:cs typeface="Montserrat"/>
                  <a:sym typeface="Montserrat"/>
                </a:rPr>
                <a:t>RAG + Decision Trees + Guardrails</a:t>
              </a:r>
            </a:p>
          </p:txBody>
        </p:sp>
      </p:grpSp>
      <p:grpSp>
        <p:nvGrpSpPr>
          <p:cNvPr name="Group 12" id="12"/>
          <p:cNvGrpSpPr/>
          <p:nvPr/>
        </p:nvGrpSpPr>
        <p:grpSpPr>
          <a:xfrm rot="-9835079">
            <a:off x="9385096" y="1056471"/>
            <a:ext cx="2053957" cy="695324"/>
            <a:chOff x="0" y="0"/>
            <a:chExt cx="6346825" cy="2148586"/>
          </a:xfrm>
        </p:grpSpPr>
        <p:sp>
          <p:nvSpPr>
            <p:cNvPr name="Freeform 13" id="13"/>
            <p:cNvSpPr/>
            <p:nvPr/>
          </p:nvSpPr>
          <p:spPr>
            <a:xfrm flipH="false" flipV="false" rot="0">
              <a:off x="295" y="0"/>
              <a:ext cx="6346657" cy="2148586"/>
            </a:xfrm>
            <a:custGeom>
              <a:avLst/>
              <a:gdLst/>
              <a:ahLst/>
              <a:cxnLst/>
              <a:rect r="r" b="b" t="t" l="l"/>
              <a:pathLst>
                <a:path h="2148586" w="6346657">
                  <a:moveTo>
                    <a:pt x="6251280" y="0"/>
                  </a:moveTo>
                  <a:cubicBezTo>
                    <a:pt x="6198702" y="0"/>
                    <a:pt x="6156030" y="42672"/>
                    <a:pt x="6156030" y="95250"/>
                  </a:cubicBezTo>
                  <a:cubicBezTo>
                    <a:pt x="6156030" y="599694"/>
                    <a:pt x="6026490" y="1072642"/>
                    <a:pt x="5791413" y="1427099"/>
                  </a:cubicBezTo>
                  <a:cubicBezTo>
                    <a:pt x="5564337" y="1769491"/>
                    <a:pt x="5266268" y="1957959"/>
                    <a:pt x="4952197" y="1957959"/>
                  </a:cubicBezTo>
                  <a:cubicBezTo>
                    <a:pt x="4638126" y="1957959"/>
                    <a:pt x="4340184" y="1769364"/>
                    <a:pt x="4112981" y="1427099"/>
                  </a:cubicBezTo>
                  <a:cubicBezTo>
                    <a:pt x="3878920" y="1074293"/>
                    <a:pt x="3749507" y="603758"/>
                    <a:pt x="3748491" y="101854"/>
                  </a:cubicBezTo>
                  <a:cubicBezTo>
                    <a:pt x="3748491" y="99695"/>
                    <a:pt x="3748618" y="97536"/>
                    <a:pt x="3748618" y="95377"/>
                  </a:cubicBezTo>
                  <a:cubicBezTo>
                    <a:pt x="3748618" y="42799"/>
                    <a:pt x="3705946" y="127"/>
                    <a:pt x="3653368" y="127"/>
                  </a:cubicBezTo>
                  <a:cubicBezTo>
                    <a:pt x="3600790" y="127"/>
                    <a:pt x="3558118" y="42799"/>
                    <a:pt x="3558118" y="95377"/>
                  </a:cubicBezTo>
                  <a:cubicBezTo>
                    <a:pt x="3558118" y="97536"/>
                    <a:pt x="3558118" y="99695"/>
                    <a:pt x="3558118" y="101981"/>
                  </a:cubicBezTo>
                  <a:cubicBezTo>
                    <a:pt x="3555070" y="1126109"/>
                    <a:pt x="2843108" y="1958213"/>
                    <a:pt x="1968205" y="1958213"/>
                  </a:cubicBezTo>
                  <a:cubicBezTo>
                    <a:pt x="1368511" y="1958213"/>
                    <a:pt x="822665" y="1559306"/>
                    <a:pt x="553298" y="944753"/>
                  </a:cubicBezTo>
                  <a:cubicBezTo>
                    <a:pt x="553298" y="944753"/>
                    <a:pt x="1277198" y="1296416"/>
                    <a:pt x="1277198" y="1296416"/>
                  </a:cubicBezTo>
                  <a:cubicBezTo>
                    <a:pt x="1324061" y="1319022"/>
                    <a:pt x="1381719" y="1299210"/>
                    <a:pt x="1404452" y="1252474"/>
                  </a:cubicBezTo>
                  <a:cubicBezTo>
                    <a:pt x="1427439" y="1205103"/>
                    <a:pt x="1407754" y="1148207"/>
                    <a:pt x="1360383" y="1125220"/>
                  </a:cubicBezTo>
                  <a:cubicBezTo>
                    <a:pt x="1273134" y="1082929"/>
                    <a:pt x="1184234" y="1039622"/>
                    <a:pt x="1096350" y="996950"/>
                  </a:cubicBezTo>
                  <a:cubicBezTo>
                    <a:pt x="1016467" y="958215"/>
                    <a:pt x="936584" y="919353"/>
                    <a:pt x="856828" y="880618"/>
                  </a:cubicBezTo>
                  <a:cubicBezTo>
                    <a:pt x="729701" y="818896"/>
                    <a:pt x="600161" y="761746"/>
                    <a:pt x="475447" y="695071"/>
                  </a:cubicBezTo>
                  <a:cubicBezTo>
                    <a:pt x="458683" y="686181"/>
                    <a:pt x="442427" y="676656"/>
                    <a:pt x="424520" y="670052"/>
                  </a:cubicBezTo>
                  <a:cubicBezTo>
                    <a:pt x="368767" y="649478"/>
                    <a:pt x="309204" y="670941"/>
                    <a:pt x="289773" y="729869"/>
                  </a:cubicBezTo>
                  <a:cubicBezTo>
                    <a:pt x="274787" y="775589"/>
                    <a:pt x="260817" y="821690"/>
                    <a:pt x="246466" y="867664"/>
                  </a:cubicBezTo>
                  <a:cubicBezTo>
                    <a:pt x="227289" y="928751"/>
                    <a:pt x="207985" y="989838"/>
                    <a:pt x="188808" y="1050925"/>
                  </a:cubicBezTo>
                  <a:cubicBezTo>
                    <a:pt x="166837" y="1120648"/>
                    <a:pt x="144993" y="1190371"/>
                    <a:pt x="123022" y="1259967"/>
                  </a:cubicBezTo>
                  <a:cubicBezTo>
                    <a:pt x="102702" y="1324737"/>
                    <a:pt x="82255" y="1389507"/>
                    <a:pt x="61935" y="1454277"/>
                  </a:cubicBezTo>
                  <a:cubicBezTo>
                    <a:pt x="47330" y="1500505"/>
                    <a:pt x="32852" y="1546860"/>
                    <a:pt x="18247" y="1593088"/>
                  </a:cubicBezTo>
                  <a:cubicBezTo>
                    <a:pt x="13675" y="1607820"/>
                    <a:pt x="8976" y="1622552"/>
                    <a:pt x="4404" y="1637157"/>
                  </a:cubicBezTo>
                  <a:cubicBezTo>
                    <a:pt x="-11344" y="1687322"/>
                    <a:pt x="16469" y="1740789"/>
                    <a:pt x="66634" y="1756664"/>
                  </a:cubicBezTo>
                  <a:cubicBezTo>
                    <a:pt x="76159" y="1759712"/>
                    <a:pt x="85811" y="1761109"/>
                    <a:pt x="95209" y="1761109"/>
                  </a:cubicBezTo>
                  <a:cubicBezTo>
                    <a:pt x="135722" y="1761109"/>
                    <a:pt x="173187" y="1735074"/>
                    <a:pt x="186014" y="1694434"/>
                  </a:cubicBezTo>
                  <a:lnTo>
                    <a:pt x="389976" y="1046099"/>
                  </a:lnTo>
                  <a:cubicBezTo>
                    <a:pt x="693379" y="1715389"/>
                    <a:pt x="1300185" y="2148586"/>
                    <a:pt x="1968205" y="2148586"/>
                  </a:cubicBezTo>
                  <a:cubicBezTo>
                    <a:pt x="2735920" y="2148586"/>
                    <a:pt x="3391748" y="1585341"/>
                    <a:pt x="3641176" y="798195"/>
                  </a:cubicBezTo>
                  <a:cubicBezTo>
                    <a:pt x="3707978" y="1070356"/>
                    <a:pt x="3813769" y="1320292"/>
                    <a:pt x="3954358" y="1532382"/>
                  </a:cubicBezTo>
                  <a:cubicBezTo>
                    <a:pt x="4217883" y="1929638"/>
                    <a:pt x="4572340" y="2148459"/>
                    <a:pt x="4952324" y="2148459"/>
                  </a:cubicBezTo>
                  <a:cubicBezTo>
                    <a:pt x="5332308" y="2148459"/>
                    <a:pt x="5686638" y="1929638"/>
                    <a:pt x="5950290" y="1532382"/>
                  </a:cubicBezTo>
                  <a:cubicBezTo>
                    <a:pt x="6205814" y="1147191"/>
                    <a:pt x="6346657" y="636778"/>
                    <a:pt x="6346657" y="95250"/>
                  </a:cubicBezTo>
                  <a:cubicBezTo>
                    <a:pt x="6346530" y="42672"/>
                    <a:pt x="6303858" y="0"/>
                    <a:pt x="6251280" y="0"/>
                  </a:cubicBezTo>
                  <a:close/>
                </a:path>
              </a:pathLst>
            </a:custGeom>
            <a:solidFill>
              <a:srgbClr val="D7D9D8"/>
            </a:solidFill>
          </p:spPr>
        </p:sp>
      </p:grpSp>
      <p:grpSp>
        <p:nvGrpSpPr>
          <p:cNvPr name="Group 14" id="14"/>
          <p:cNvGrpSpPr/>
          <p:nvPr/>
        </p:nvGrpSpPr>
        <p:grpSpPr>
          <a:xfrm rot="0">
            <a:off x="12249509" y="3846456"/>
            <a:ext cx="2263136" cy="1131568"/>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889AC7"/>
            </a:solidFill>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871"/>
                </a:lnSpc>
              </a:pPr>
              <a:r>
                <a:rPr lang="en-US" sz="2051" spc="4">
                  <a:solidFill>
                    <a:srgbClr val="000000"/>
                  </a:solidFill>
                  <a:latin typeface="Montserrat"/>
                  <a:ea typeface="Montserrat"/>
                  <a:cs typeface="Montserrat"/>
                  <a:sym typeface="Montserrat"/>
                </a:rPr>
                <a:t>HYDE Query</a:t>
              </a:r>
            </a:p>
          </p:txBody>
        </p:sp>
      </p:grpSp>
      <p:sp>
        <p:nvSpPr>
          <p:cNvPr name="AutoShape 17" id="17"/>
          <p:cNvSpPr/>
          <p:nvPr/>
        </p:nvSpPr>
        <p:spPr>
          <a:xfrm flipH="true">
            <a:off x="13381077" y="3291001"/>
            <a:ext cx="0" cy="555456"/>
          </a:xfrm>
          <a:prstGeom prst="line">
            <a:avLst/>
          </a:prstGeom>
          <a:ln cap="flat" w="38100">
            <a:solidFill>
              <a:srgbClr val="FFFFFF"/>
            </a:solidFill>
            <a:prstDash val="solid"/>
            <a:headEnd type="none" len="sm" w="sm"/>
            <a:tailEnd type="triangle" len="med" w="lg"/>
          </a:ln>
        </p:spPr>
      </p:sp>
      <p:grpSp>
        <p:nvGrpSpPr>
          <p:cNvPr name="Group 18" id="18"/>
          <p:cNvGrpSpPr/>
          <p:nvPr/>
        </p:nvGrpSpPr>
        <p:grpSpPr>
          <a:xfrm rot="0">
            <a:off x="11441924" y="5353341"/>
            <a:ext cx="3878307" cy="1260196"/>
            <a:chOff x="0" y="0"/>
            <a:chExt cx="1289798" cy="419100"/>
          </a:xfrm>
        </p:grpSpPr>
        <p:sp>
          <p:nvSpPr>
            <p:cNvPr name="Freeform 19" id="19"/>
            <p:cNvSpPr/>
            <p:nvPr/>
          </p:nvSpPr>
          <p:spPr>
            <a:xfrm flipH="false" flipV="false" rot="0">
              <a:off x="0" y="0"/>
              <a:ext cx="1289799" cy="419100"/>
            </a:xfrm>
            <a:custGeom>
              <a:avLst/>
              <a:gdLst/>
              <a:ahLst/>
              <a:cxnLst/>
              <a:rect r="r" b="b" t="t" l="l"/>
              <a:pathLst>
                <a:path h="419100" w="1289799">
                  <a:moveTo>
                    <a:pt x="38989" y="0"/>
                  </a:moveTo>
                  <a:lnTo>
                    <a:pt x="1250810" y="0"/>
                  </a:lnTo>
                  <a:cubicBezTo>
                    <a:pt x="1272343" y="0"/>
                    <a:pt x="1289799" y="17456"/>
                    <a:pt x="1289799" y="38989"/>
                  </a:cubicBezTo>
                  <a:lnTo>
                    <a:pt x="1289799" y="380111"/>
                  </a:lnTo>
                  <a:cubicBezTo>
                    <a:pt x="1289799" y="390452"/>
                    <a:pt x="1285691" y="400369"/>
                    <a:pt x="1278379" y="407681"/>
                  </a:cubicBezTo>
                  <a:cubicBezTo>
                    <a:pt x="1271067" y="414992"/>
                    <a:pt x="1261150" y="419100"/>
                    <a:pt x="1250810" y="419100"/>
                  </a:cubicBezTo>
                  <a:lnTo>
                    <a:pt x="38989" y="419100"/>
                  </a:lnTo>
                  <a:cubicBezTo>
                    <a:pt x="17456" y="419100"/>
                    <a:pt x="0" y="401644"/>
                    <a:pt x="0" y="380111"/>
                  </a:cubicBezTo>
                  <a:lnTo>
                    <a:pt x="0" y="38989"/>
                  </a:lnTo>
                  <a:cubicBezTo>
                    <a:pt x="0" y="17456"/>
                    <a:pt x="17456" y="0"/>
                    <a:pt x="38989" y="0"/>
                  </a:cubicBezTo>
                  <a:close/>
                </a:path>
              </a:pathLst>
            </a:custGeom>
            <a:solidFill>
              <a:srgbClr val="BA9BC9"/>
            </a:solidFill>
          </p:spPr>
        </p:sp>
        <p:sp>
          <p:nvSpPr>
            <p:cNvPr name="TextBox 20" id="20"/>
            <p:cNvSpPr txBox="true"/>
            <p:nvPr/>
          </p:nvSpPr>
          <p:spPr>
            <a:xfrm>
              <a:off x="0" y="-38100"/>
              <a:ext cx="1289798" cy="457200"/>
            </a:xfrm>
            <a:prstGeom prst="rect">
              <a:avLst/>
            </a:prstGeom>
          </p:spPr>
          <p:txBody>
            <a:bodyPr anchor="ctr" rtlCol="false" tIns="50800" lIns="50800" bIns="50800" rIns="50800"/>
            <a:lstStyle/>
            <a:p>
              <a:pPr algn="ctr">
                <a:lnSpc>
                  <a:spcPts val="2871"/>
                </a:lnSpc>
              </a:pPr>
              <a:r>
                <a:rPr lang="en-US" sz="2051" spc="4">
                  <a:solidFill>
                    <a:srgbClr val="000000"/>
                  </a:solidFill>
                  <a:latin typeface="Montserrat"/>
                  <a:ea typeface="Montserrat"/>
                  <a:cs typeface="Montserrat"/>
                  <a:sym typeface="Montserrat"/>
                </a:rPr>
                <a:t>HYBRID RETRIEVAL</a:t>
              </a:r>
            </a:p>
            <a:p>
              <a:pPr algn="ctr">
                <a:lnSpc>
                  <a:spcPts val="2871"/>
                </a:lnSpc>
              </a:pPr>
              <a:r>
                <a:rPr lang="en-US" sz="2051" spc="4">
                  <a:solidFill>
                    <a:srgbClr val="FFFFFF"/>
                  </a:solidFill>
                  <a:latin typeface="Montserrat"/>
                  <a:ea typeface="Montserrat"/>
                  <a:cs typeface="Montserrat"/>
                  <a:sym typeface="Montserrat"/>
                </a:rPr>
                <a:t>(BM25, ChromaDB, RRF)</a:t>
              </a:r>
            </a:p>
          </p:txBody>
        </p:sp>
      </p:grpSp>
      <p:sp>
        <p:nvSpPr>
          <p:cNvPr name="AutoShape 21" id="21"/>
          <p:cNvSpPr/>
          <p:nvPr/>
        </p:nvSpPr>
        <p:spPr>
          <a:xfrm>
            <a:off x="13381077" y="4978024"/>
            <a:ext cx="0" cy="375317"/>
          </a:xfrm>
          <a:prstGeom prst="line">
            <a:avLst/>
          </a:prstGeom>
          <a:ln cap="flat" w="38100">
            <a:solidFill>
              <a:srgbClr val="FFFFFF"/>
            </a:solidFill>
            <a:prstDash val="solid"/>
            <a:headEnd type="none" len="sm" w="sm"/>
            <a:tailEnd type="triangle" len="med" w="lg"/>
          </a:ln>
        </p:spPr>
      </p:sp>
      <p:sp>
        <p:nvSpPr>
          <p:cNvPr name="AutoShape 22" id="22"/>
          <p:cNvSpPr/>
          <p:nvPr/>
        </p:nvSpPr>
        <p:spPr>
          <a:xfrm>
            <a:off x="13362027" y="6613536"/>
            <a:ext cx="0" cy="375317"/>
          </a:xfrm>
          <a:prstGeom prst="line">
            <a:avLst/>
          </a:prstGeom>
          <a:ln cap="flat" w="38100">
            <a:solidFill>
              <a:srgbClr val="FFFFFF"/>
            </a:solidFill>
            <a:prstDash val="solid"/>
            <a:headEnd type="none" len="sm" w="sm"/>
            <a:tailEnd type="triangle" len="med" w="lg"/>
          </a:ln>
        </p:spPr>
      </p:sp>
      <p:grpSp>
        <p:nvGrpSpPr>
          <p:cNvPr name="Group 23" id="23"/>
          <p:cNvGrpSpPr/>
          <p:nvPr/>
        </p:nvGrpSpPr>
        <p:grpSpPr>
          <a:xfrm rot="0">
            <a:off x="10679658" y="6988853"/>
            <a:ext cx="5364737" cy="1543050"/>
            <a:chOff x="0" y="0"/>
            <a:chExt cx="1412935" cy="406400"/>
          </a:xfrm>
        </p:grpSpPr>
        <p:sp>
          <p:nvSpPr>
            <p:cNvPr name="Freeform 24" id="24"/>
            <p:cNvSpPr/>
            <p:nvPr/>
          </p:nvSpPr>
          <p:spPr>
            <a:xfrm flipH="false" flipV="false" rot="0">
              <a:off x="0" y="0"/>
              <a:ext cx="1412935" cy="406400"/>
            </a:xfrm>
            <a:custGeom>
              <a:avLst/>
              <a:gdLst/>
              <a:ahLst/>
              <a:cxnLst/>
              <a:rect r="r" b="b" t="t" l="l"/>
              <a:pathLst>
                <a:path h="406400" w="1412935">
                  <a:moveTo>
                    <a:pt x="1209735" y="0"/>
                  </a:moveTo>
                  <a:cubicBezTo>
                    <a:pt x="1321959" y="0"/>
                    <a:pt x="1412935" y="90976"/>
                    <a:pt x="1412935" y="203200"/>
                  </a:cubicBezTo>
                  <a:cubicBezTo>
                    <a:pt x="1412935" y="315424"/>
                    <a:pt x="1321959" y="406400"/>
                    <a:pt x="120973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DE0E6">
                    <a:alpha val="100000"/>
                  </a:srgbClr>
                </a:gs>
                <a:gs pos="100000">
                  <a:srgbClr val="004AAD">
                    <a:alpha val="100000"/>
                  </a:srgbClr>
                </a:gs>
              </a:gsLst>
              <a:lin ang="0"/>
            </a:gradFill>
          </p:spPr>
        </p:sp>
        <p:sp>
          <p:nvSpPr>
            <p:cNvPr name="TextBox 25" id="25"/>
            <p:cNvSpPr txBox="true"/>
            <p:nvPr/>
          </p:nvSpPr>
          <p:spPr>
            <a:xfrm>
              <a:off x="0" y="-38100"/>
              <a:ext cx="1412935" cy="444500"/>
            </a:xfrm>
            <a:prstGeom prst="rect">
              <a:avLst/>
            </a:prstGeom>
          </p:spPr>
          <p:txBody>
            <a:bodyPr anchor="ctr" rtlCol="false" tIns="50800" lIns="50800" bIns="50800" rIns="50800"/>
            <a:lstStyle/>
            <a:p>
              <a:pPr algn="ctr">
                <a:lnSpc>
                  <a:spcPts val="2871"/>
                </a:lnSpc>
              </a:pPr>
              <a:r>
                <a:rPr lang="en-US" b="true" sz="2051" spc="4">
                  <a:solidFill>
                    <a:srgbClr val="000000"/>
                  </a:solidFill>
                  <a:latin typeface="Montserrat Bold"/>
                  <a:ea typeface="Montserrat Bold"/>
                  <a:cs typeface="Montserrat Bold"/>
                  <a:sym typeface="Montserrat Bold"/>
                </a:rPr>
                <a:t>CROSS-ENCODER RERANKER</a:t>
              </a:r>
            </a:p>
          </p:txBody>
        </p:sp>
      </p:grpSp>
      <p:sp>
        <p:nvSpPr>
          <p:cNvPr name="AutoShape 26" id="26"/>
          <p:cNvSpPr/>
          <p:nvPr/>
        </p:nvSpPr>
        <p:spPr>
          <a:xfrm flipH="true">
            <a:off x="9328978" y="7741328"/>
            <a:ext cx="1245370" cy="0"/>
          </a:xfrm>
          <a:prstGeom prst="line">
            <a:avLst/>
          </a:prstGeom>
          <a:ln cap="flat" w="38100">
            <a:solidFill>
              <a:srgbClr val="FFFFFF"/>
            </a:solidFill>
            <a:prstDash val="solid"/>
            <a:headEnd type="none" len="sm" w="sm"/>
            <a:tailEnd type="triangle" len="med" w="lg"/>
          </a:ln>
        </p:spPr>
      </p:sp>
      <p:grpSp>
        <p:nvGrpSpPr>
          <p:cNvPr name="Group 27" id="27"/>
          <p:cNvGrpSpPr/>
          <p:nvPr/>
        </p:nvGrpSpPr>
        <p:grpSpPr>
          <a:xfrm rot="0">
            <a:off x="6429649" y="7260488"/>
            <a:ext cx="2794555" cy="961680"/>
            <a:chOff x="0" y="0"/>
            <a:chExt cx="675741" cy="232540"/>
          </a:xfrm>
        </p:grpSpPr>
        <p:sp>
          <p:nvSpPr>
            <p:cNvPr name="Freeform 28" id="28"/>
            <p:cNvSpPr/>
            <p:nvPr/>
          </p:nvSpPr>
          <p:spPr>
            <a:xfrm flipH="false" flipV="false" rot="0">
              <a:off x="0" y="0"/>
              <a:ext cx="675741" cy="232540"/>
            </a:xfrm>
            <a:custGeom>
              <a:avLst/>
              <a:gdLst/>
              <a:ahLst/>
              <a:cxnLst/>
              <a:rect r="r" b="b" t="t" l="l"/>
              <a:pathLst>
                <a:path h="232540" w="675741">
                  <a:moveTo>
                    <a:pt x="54109" y="0"/>
                  </a:moveTo>
                  <a:lnTo>
                    <a:pt x="621632" y="0"/>
                  </a:lnTo>
                  <a:cubicBezTo>
                    <a:pt x="635983" y="0"/>
                    <a:pt x="649746" y="5701"/>
                    <a:pt x="659893" y="15848"/>
                  </a:cubicBezTo>
                  <a:cubicBezTo>
                    <a:pt x="670040" y="25995"/>
                    <a:pt x="675741" y="39758"/>
                    <a:pt x="675741" y="54109"/>
                  </a:cubicBezTo>
                  <a:lnTo>
                    <a:pt x="675741" y="178432"/>
                  </a:lnTo>
                  <a:cubicBezTo>
                    <a:pt x="675741" y="192782"/>
                    <a:pt x="670040" y="206545"/>
                    <a:pt x="659893" y="216692"/>
                  </a:cubicBezTo>
                  <a:cubicBezTo>
                    <a:pt x="649746" y="226840"/>
                    <a:pt x="635983" y="232540"/>
                    <a:pt x="621632" y="232540"/>
                  </a:cubicBezTo>
                  <a:lnTo>
                    <a:pt x="54109" y="232540"/>
                  </a:lnTo>
                  <a:cubicBezTo>
                    <a:pt x="24225" y="232540"/>
                    <a:pt x="0" y="208315"/>
                    <a:pt x="0" y="178432"/>
                  </a:cubicBezTo>
                  <a:lnTo>
                    <a:pt x="0" y="54109"/>
                  </a:lnTo>
                  <a:cubicBezTo>
                    <a:pt x="0" y="39758"/>
                    <a:pt x="5701" y="25995"/>
                    <a:pt x="15848" y="15848"/>
                  </a:cubicBezTo>
                  <a:cubicBezTo>
                    <a:pt x="25995" y="5701"/>
                    <a:pt x="39758" y="0"/>
                    <a:pt x="54109" y="0"/>
                  </a:cubicBezTo>
                  <a:close/>
                </a:path>
              </a:pathLst>
            </a:custGeom>
            <a:gradFill rotWithShape="true">
              <a:gsLst>
                <a:gs pos="0">
                  <a:srgbClr val="CDFFD8">
                    <a:alpha val="100000"/>
                  </a:srgbClr>
                </a:gs>
                <a:gs pos="100000">
                  <a:srgbClr val="94B9FF">
                    <a:alpha val="100000"/>
                  </a:srgbClr>
                </a:gs>
              </a:gsLst>
              <a:lin ang="0"/>
            </a:gradFill>
          </p:spPr>
        </p:sp>
        <p:sp>
          <p:nvSpPr>
            <p:cNvPr name="TextBox 29" id="29"/>
            <p:cNvSpPr txBox="true"/>
            <p:nvPr/>
          </p:nvSpPr>
          <p:spPr>
            <a:xfrm>
              <a:off x="0" y="-38100"/>
              <a:ext cx="675741" cy="270640"/>
            </a:xfrm>
            <a:prstGeom prst="rect">
              <a:avLst/>
            </a:prstGeom>
          </p:spPr>
          <p:txBody>
            <a:bodyPr anchor="ctr" rtlCol="false" tIns="50800" lIns="50800" bIns="50800" rIns="50800"/>
            <a:lstStyle/>
            <a:p>
              <a:pPr algn="ctr">
                <a:lnSpc>
                  <a:spcPts val="2871"/>
                </a:lnSpc>
              </a:pPr>
              <a:r>
                <a:rPr lang="en-US" sz="2051" spc="4">
                  <a:solidFill>
                    <a:srgbClr val="211B20"/>
                  </a:solidFill>
                  <a:latin typeface="Montserrat"/>
                  <a:ea typeface="Montserrat"/>
                  <a:cs typeface="Montserrat"/>
                  <a:sym typeface="Montserrat"/>
                </a:rPr>
                <a:t>Expert LLM Call</a:t>
              </a:r>
            </a:p>
          </p:txBody>
        </p:sp>
      </p:grpSp>
      <p:sp>
        <p:nvSpPr>
          <p:cNvPr name="TextBox 30" id="30"/>
          <p:cNvSpPr txBox="true"/>
          <p:nvPr/>
        </p:nvSpPr>
        <p:spPr>
          <a:xfrm rot="0">
            <a:off x="1846056" y="3978142"/>
            <a:ext cx="9167186" cy="1425715"/>
          </a:xfrm>
          <a:prstGeom prst="rect">
            <a:avLst/>
          </a:prstGeom>
        </p:spPr>
        <p:txBody>
          <a:bodyPr anchor="t" rtlCol="false" tIns="0" lIns="0" bIns="0" rIns="0">
            <a:spAutoFit/>
          </a:bodyPr>
          <a:lstStyle/>
          <a:p>
            <a:pPr algn="just" marL="0" indent="0" lvl="0">
              <a:lnSpc>
                <a:spcPts val="11717"/>
              </a:lnSpc>
              <a:spcBef>
                <a:spcPct val="0"/>
              </a:spcBef>
            </a:pPr>
            <a:r>
              <a:rPr lang="en-US" b="true" sz="8369" spc="-510">
                <a:solidFill>
                  <a:srgbClr val="FFFFFF"/>
                </a:solidFill>
                <a:latin typeface="Montserrat Bold"/>
                <a:ea typeface="Montserrat Bold"/>
                <a:cs typeface="Montserrat Bold"/>
                <a:sym typeface="Montserrat Bold"/>
              </a:rPr>
              <a:t>Workflow</a:t>
            </a:r>
          </a:p>
        </p:txBody>
      </p:sp>
      <p:sp>
        <p:nvSpPr>
          <p:cNvPr name="Freeform 31" id="31"/>
          <p:cNvSpPr/>
          <p:nvPr/>
        </p:nvSpPr>
        <p:spPr>
          <a:xfrm flipH="false" flipV="false" rot="0">
            <a:off x="7345450" y="3752889"/>
            <a:ext cx="1419698" cy="1981812"/>
          </a:xfrm>
          <a:custGeom>
            <a:avLst/>
            <a:gdLst/>
            <a:ahLst/>
            <a:cxnLst/>
            <a:rect r="r" b="b" t="t" l="l"/>
            <a:pathLst>
              <a:path h="1981812" w="1419698">
                <a:moveTo>
                  <a:pt x="0" y="0"/>
                </a:moveTo>
                <a:lnTo>
                  <a:pt x="1419697" y="0"/>
                </a:lnTo>
                <a:lnTo>
                  <a:pt x="1419697" y="1981812"/>
                </a:lnTo>
                <a:lnTo>
                  <a:pt x="0" y="19818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2" id="32"/>
          <p:cNvGrpSpPr/>
          <p:nvPr/>
        </p:nvGrpSpPr>
        <p:grpSpPr>
          <a:xfrm rot="0">
            <a:off x="15513352" y="667880"/>
            <a:ext cx="1919429" cy="566532"/>
            <a:chOff x="0" y="0"/>
            <a:chExt cx="505529" cy="149210"/>
          </a:xfrm>
        </p:grpSpPr>
        <p:sp>
          <p:nvSpPr>
            <p:cNvPr name="Freeform 33" id="3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18FF"/>
            </a:solidFill>
          </p:spPr>
        </p:sp>
        <p:sp>
          <p:nvSpPr>
            <p:cNvPr name="TextBox 34" id="3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AutoShape 35" id="35"/>
          <p:cNvSpPr/>
          <p:nvPr/>
        </p:nvSpPr>
        <p:spPr>
          <a:xfrm flipH="true" flipV="true">
            <a:off x="4648842" y="7741328"/>
            <a:ext cx="1471255" cy="0"/>
          </a:xfrm>
          <a:prstGeom prst="line">
            <a:avLst/>
          </a:prstGeom>
          <a:ln cap="flat" w="38100">
            <a:solidFill>
              <a:srgbClr val="FFFFFF"/>
            </a:solidFill>
            <a:prstDash val="sysDot"/>
            <a:headEnd type="none" len="sm" w="sm"/>
            <a:tailEnd type="arrow" len="sm" w="med"/>
          </a:ln>
        </p:spPr>
      </p:sp>
      <p:grpSp>
        <p:nvGrpSpPr>
          <p:cNvPr name="Group 36" id="36"/>
          <p:cNvGrpSpPr/>
          <p:nvPr/>
        </p:nvGrpSpPr>
        <p:grpSpPr>
          <a:xfrm rot="0">
            <a:off x="2303754" y="7260488"/>
            <a:ext cx="2157545" cy="942630"/>
            <a:chOff x="0" y="0"/>
            <a:chExt cx="959260" cy="419100"/>
          </a:xfrm>
        </p:grpSpPr>
        <p:sp>
          <p:nvSpPr>
            <p:cNvPr name="Freeform 37" id="37"/>
            <p:cNvSpPr/>
            <p:nvPr/>
          </p:nvSpPr>
          <p:spPr>
            <a:xfrm flipH="false" flipV="false" rot="0">
              <a:off x="0" y="0"/>
              <a:ext cx="959260" cy="419100"/>
            </a:xfrm>
            <a:custGeom>
              <a:avLst/>
              <a:gdLst/>
              <a:ahLst/>
              <a:cxnLst/>
              <a:rect r="r" b="b" t="t" l="l"/>
              <a:pathLst>
                <a:path h="419100" w="959260">
                  <a:moveTo>
                    <a:pt x="70084" y="0"/>
                  </a:moveTo>
                  <a:lnTo>
                    <a:pt x="889176" y="0"/>
                  </a:lnTo>
                  <a:cubicBezTo>
                    <a:pt x="927882" y="0"/>
                    <a:pt x="959260" y="31378"/>
                    <a:pt x="959260" y="70084"/>
                  </a:cubicBezTo>
                  <a:lnTo>
                    <a:pt x="959260" y="349016"/>
                  </a:lnTo>
                  <a:cubicBezTo>
                    <a:pt x="959260" y="387722"/>
                    <a:pt x="927882" y="419100"/>
                    <a:pt x="889176" y="419100"/>
                  </a:cubicBezTo>
                  <a:lnTo>
                    <a:pt x="70084" y="419100"/>
                  </a:lnTo>
                  <a:cubicBezTo>
                    <a:pt x="31378" y="419100"/>
                    <a:pt x="0" y="387722"/>
                    <a:pt x="0" y="349016"/>
                  </a:cubicBezTo>
                  <a:lnTo>
                    <a:pt x="0" y="70084"/>
                  </a:lnTo>
                  <a:cubicBezTo>
                    <a:pt x="0" y="31378"/>
                    <a:pt x="31378" y="0"/>
                    <a:pt x="70084" y="0"/>
                  </a:cubicBezTo>
                  <a:close/>
                </a:path>
              </a:pathLst>
            </a:custGeom>
            <a:gradFill rotWithShape="true">
              <a:gsLst>
                <a:gs pos="0">
                  <a:srgbClr val="A6A6A6">
                    <a:alpha val="100000"/>
                  </a:srgbClr>
                </a:gs>
                <a:gs pos="100000">
                  <a:srgbClr val="FFFFFF">
                    <a:alpha val="100000"/>
                  </a:srgbClr>
                </a:gs>
              </a:gsLst>
              <a:lin ang="0"/>
            </a:gradFill>
          </p:spPr>
        </p:sp>
        <p:sp>
          <p:nvSpPr>
            <p:cNvPr name="TextBox 38" id="38"/>
            <p:cNvSpPr txBox="true"/>
            <p:nvPr/>
          </p:nvSpPr>
          <p:spPr>
            <a:xfrm>
              <a:off x="0" y="-38100"/>
              <a:ext cx="959260" cy="457200"/>
            </a:xfrm>
            <a:prstGeom prst="rect">
              <a:avLst/>
            </a:prstGeom>
          </p:spPr>
          <p:txBody>
            <a:bodyPr anchor="ctr" rtlCol="false" tIns="50800" lIns="50800" bIns="50800" rIns="50800"/>
            <a:lstStyle/>
            <a:p>
              <a:pPr algn="ctr">
                <a:lnSpc>
                  <a:spcPts val="2871"/>
                </a:lnSpc>
              </a:pPr>
              <a:r>
                <a:rPr lang="en-US" b="true" sz="2051" spc="4">
                  <a:solidFill>
                    <a:srgbClr val="211B20"/>
                  </a:solidFill>
                  <a:latin typeface="Montserrat Bold"/>
                  <a:ea typeface="Montserrat Bold"/>
                  <a:cs typeface="Montserrat Bold"/>
                  <a:sym typeface="Montserrat Bold"/>
                </a:rPr>
                <a:t>GUARDRAILS</a:t>
              </a:r>
            </a:p>
          </p:txBody>
        </p:sp>
      </p:grpSp>
      <p:grpSp>
        <p:nvGrpSpPr>
          <p:cNvPr name="Group 39" id="39"/>
          <p:cNvGrpSpPr/>
          <p:nvPr/>
        </p:nvGrpSpPr>
        <p:grpSpPr>
          <a:xfrm rot="0">
            <a:off x="455236" y="8849933"/>
            <a:ext cx="3697982" cy="899536"/>
            <a:chOff x="0" y="0"/>
            <a:chExt cx="955970" cy="232540"/>
          </a:xfrm>
        </p:grpSpPr>
        <p:sp>
          <p:nvSpPr>
            <p:cNvPr name="Freeform 40" id="40"/>
            <p:cNvSpPr/>
            <p:nvPr/>
          </p:nvSpPr>
          <p:spPr>
            <a:xfrm flipH="false" flipV="false" rot="0">
              <a:off x="0" y="0"/>
              <a:ext cx="955970" cy="232540"/>
            </a:xfrm>
            <a:custGeom>
              <a:avLst/>
              <a:gdLst/>
              <a:ahLst/>
              <a:cxnLst/>
              <a:rect r="r" b="b" t="t" l="l"/>
              <a:pathLst>
                <a:path h="232540" w="955970">
                  <a:moveTo>
                    <a:pt x="40890" y="0"/>
                  </a:moveTo>
                  <a:lnTo>
                    <a:pt x="915081" y="0"/>
                  </a:lnTo>
                  <a:cubicBezTo>
                    <a:pt x="937664" y="0"/>
                    <a:pt x="955970" y="18307"/>
                    <a:pt x="955970" y="40890"/>
                  </a:cubicBezTo>
                  <a:lnTo>
                    <a:pt x="955970" y="191651"/>
                  </a:lnTo>
                  <a:cubicBezTo>
                    <a:pt x="955970" y="214233"/>
                    <a:pt x="937664" y="232540"/>
                    <a:pt x="915081" y="232540"/>
                  </a:cubicBezTo>
                  <a:lnTo>
                    <a:pt x="40890" y="232540"/>
                  </a:lnTo>
                  <a:cubicBezTo>
                    <a:pt x="18307" y="232540"/>
                    <a:pt x="0" y="214233"/>
                    <a:pt x="0" y="191651"/>
                  </a:cubicBezTo>
                  <a:lnTo>
                    <a:pt x="0" y="40890"/>
                  </a:lnTo>
                  <a:cubicBezTo>
                    <a:pt x="0" y="18307"/>
                    <a:pt x="18307" y="0"/>
                    <a:pt x="40890" y="0"/>
                  </a:cubicBezTo>
                  <a:close/>
                </a:path>
              </a:pathLst>
            </a:custGeom>
            <a:solidFill>
              <a:srgbClr val="CB6CE6"/>
            </a:solidFill>
          </p:spPr>
        </p:sp>
        <p:sp>
          <p:nvSpPr>
            <p:cNvPr name="TextBox 41" id="41"/>
            <p:cNvSpPr txBox="true"/>
            <p:nvPr/>
          </p:nvSpPr>
          <p:spPr>
            <a:xfrm>
              <a:off x="0" y="-38100"/>
              <a:ext cx="955970" cy="270640"/>
            </a:xfrm>
            <a:prstGeom prst="rect">
              <a:avLst/>
            </a:prstGeom>
          </p:spPr>
          <p:txBody>
            <a:bodyPr anchor="ctr" rtlCol="false" tIns="50800" lIns="50800" bIns="50800" rIns="50800"/>
            <a:lstStyle/>
            <a:p>
              <a:pPr algn="ctr">
                <a:lnSpc>
                  <a:spcPts val="2451"/>
                </a:lnSpc>
              </a:pPr>
              <a:r>
                <a:rPr lang="en-US" sz="1751" spc="3">
                  <a:solidFill>
                    <a:srgbClr val="211B20"/>
                  </a:solidFill>
                  <a:latin typeface="Montserrat"/>
                  <a:ea typeface="Montserrat"/>
                  <a:cs typeface="Montserrat"/>
                  <a:sym typeface="Montserrat"/>
                </a:rPr>
                <a:t>EXPERT RESPONSE</a:t>
              </a:r>
            </a:p>
            <a:p>
              <a:pPr algn="ctr">
                <a:lnSpc>
                  <a:spcPts val="2451"/>
                </a:lnSpc>
              </a:pPr>
              <a:r>
                <a:rPr lang="en-US" sz="1751" spc="3">
                  <a:solidFill>
                    <a:srgbClr val="FFFFFF"/>
                  </a:solidFill>
                  <a:latin typeface="Montserrat"/>
                  <a:ea typeface="Montserrat"/>
                  <a:cs typeface="Montserrat"/>
                  <a:sym typeface="Montserrat"/>
                </a:rPr>
                <a:t>Citations, Domain, Confidence</a:t>
              </a:r>
            </a:p>
          </p:txBody>
        </p:sp>
      </p:grpSp>
      <p:sp>
        <p:nvSpPr>
          <p:cNvPr name="Freeform 42" id="42"/>
          <p:cNvSpPr/>
          <p:nvPr/>
        </p:nvSpPr>
        <p:spPr>
          <a:xfrm flipH="true" flipV="false" rot="-430644">
            <a:off x="854037" y="7450667"/>
            <a:ext cx="1537578" cy="1308339"/>
          </a:xfrm>
          <a:custGeom>
            <a:avLst/>
            <a:gdLst/>
            <a:ahLst/>
            <a:cxnLst/>
            <a:rect r="r" b="b" t="t" l="l"/>
            <a:pathLst>
              <a:path h="1308339" w="1537578">
                <a:moveTo>
                  <a:pt x="1537578" y="0"/>
                </a:moveTo>
                <a:lnTo>
                  <a:pt x="0" y="0"/>
                </a:lnTo>
                <a:lnTo>
                  <a:pt x="0" y="1308338"/>
                </a:lnTo>
                <a:lnTo>
                  <a:pt x="1537578" y="1308338"/>
                </a:lnTo>
                <a:lnTo>
                  <a:pt x="153757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3" id="43"/>
          <p:cNvSpPr txBox="true"/>
          <p:nvPr/>
        </p:nvSpPr>
        <p:spPr>
          <a:xfrm rot="0">
            <a:off x="15762422" y="764137"/>
            <a:ext cx="1421291" cy="330200"/>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Montserrat Bold"/>
                <a:ea typeface="Montserrat Bold"/>
                <a:cs typeface="Montserrat Bold"/>
                <a:sym typeface="Montserrat Bold"/>
              </a:rPr>
              <a:t>Page 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513352" y="667880"/>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18FF"/>
            </a:soli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36952" y="1842913"/>
            <a:ext cx="18014096" cy="6601174"/>
          </a:xfrm>
          <a:custGeom>
            <a:avLst/>
            <a:gdLst/>
            <a:ahLst/>
            <a:cxnLst/>
            <a:rect r="r" b="b" t="t" l="l"/>
            <a:pathLst>
              <a:path h="6601174" w="18014096">
                <a:moveTo>
                  <a:pt x="0" y="0"/>
                </a:moveTo>
                <a:lnTo>
                  <a:pt x="18014096" y="0"/>
                </a:lnTo>
                <a:lnTo>
                  <a:pt x="18014096" y="6601174"/>
                </a:lnTo>
                <a:lnTo>
                  <a:pt x="0" y="6601174"/>
                </a:lnTo>
                <a:lnTo>
                  <a:pt x="0" y="0"/>
                </a:lnTo>
                <a:close/>
              </a:path>
            </a:pathLst>
          </a:custGeom>
          <a:blipFill>
            <a:blip r:embed="rId2"/>
            <a:stretch>
              <a:fillRect l="-1611" t="0" r="-1611" b="0"/>
            </a:stretch>
          </a:blipFill>
        </p:spPr>
      </p:sp>
      <p:sp>
        <p:nvSpPr>
          <p:cNvPr name="TextBox 6" id="6"/>
          <p:cNvSpPr txBox="true"/>
          <p:nvPr/>
        </p:nvSpPr>
        <p:spPr>
          <a:xfrm rot="0">
            <a:off x="15762422" y="764137"/>
            <a:ext cx="1421291" cy="330200"/>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Montserrat Bold"/>
                <a:ea typeface="Montserrat Bold"/>
                <a:cs typeface="Montserrat Bold"/>
                <a:sym typeface="Montserrat Bold"/>
              </a:rPr>
              <a:t>Page 05</a:t>
            </a:r>
          </a:p>
        </p:txBody>
      </p:sp>
      <p:sp>
        <p:nvSpPr>
          <p:cNvPr name="TextBox 7" id="7"/>
          <p:cNvSpPr txBox="true"/>
          <p:nvPr/>
        </p:nvSpPr>
        <p:spPr>
          <a:xfrm rot="0">
            <a:off x="949763" y="740947"/>
            <a:ext cx="1761862" cy="37259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Montserrat Heavy"/>
                <a:ea typeface="Montserrat Heavy"/>
                <a:cs typeface="Montserrat Heavy"/>
                <a:sym typeface="Montserrat Heavy"/>
              </a:rPr>
              <a:t>Neural</a:t>
            </a:r>
          </a:p>
        </p:txBody>
      </p:sp>
      <p:sp>
        <p:nvSpPr>
          <p:cNvPr name="TextBox 8" id="8"/>
          <p:cNvSpPr txBox="true"/>
          <p:nvPr/>
        </p:nvSpPr>
        <p:spPr>
          <a:xfrm rot="0">
            <a:off x="2062637" y="740393"/>
            <a:ext cx="1761862" cy="37259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Montserrat"/>
                <a:ea typeface="Montserrat"/>
                <a:cs typeface="Montserrat"/>
                <a:sym typeface="Montserrat"/>
              </a:rPr>
              <a:t>Nexus</a:t>
            </a:r>
          </a:p>
        </p:txBody>
      </p:sp>
      <p:sp>
        <p:nvSpPr>
          <p:cNvPr name="TextBox 9" id="9"/>
          <p:cNvSpPr txBox="true"/>
          <p:nvPr/>
        </p:nvSpPr>
        <p:spPr>
          <a:xfrm rot="0">
            <a:off x="6117013" y="8470830"/>
            <a:ext cx="6053975" cy="1422540"/>
          </a:xfrm>
          <a:prstGeom prst="rect">
            <a:avLst/>
          </a:prstGeom>
        </p:spPr>
        <p:txBody>
          <a:bodyPr anchor="t" rtlCol="false" tIns="0" lIns="0" bIns="0" rIns="0">
            <a:spAutoFit/>
          </a:bodyPr>
          <a:lstStyle/>
          <a:p>
            <a:pPr algn="just" marL="0" indent="0" lvl="0">
              <a:lnSpc>
                <a:spcPts val="11717"/>
              </a:lnSpc>
              <a:spcBef>
                <a:spcPct val="0"/>
              </a:spcBef>
            </a:pPr>
            <a:r>
              <a:rPr lang="en-US" sz="8369" spc="-510">
                <a:solidFill>
                  <a:srgbClr val="FFFFFF"/>
                </a:solidFill>
                <a:latin typeface="Montserrat"/>
                <a:ea typeface="Montserrat"/>
                <a:cs typeface="Montserrat"/>
                <a:sym typeface="Montserrat"/>
              </a:rPr>
              <a:t>Architecture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513352" y="667880"/>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18FF"/>
            </a:soli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5762422" y="764137"/>
            <a:ext cx="1421291" cy="330200"/>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Montserrat Bold"/>
                <a:ea typeface="Montserrat Bold"/>
                <a:cs typeface="Montserrat Bold"/>
                <a:sym typeface="Montserrat Bold"/>
              </a:rPr>
              <a:t>Page 06</a:t>
            </a:r>
          </a:p>
        </p:txBody>
      </p:sp>
      <p:sp>
        <p:nvSpPr>
          <p:cNvPr name="TextBox 6" id="6"/>
          <p:cNvSpPr txBox="true"/>
          <p:nvPr/>
        </p:nvSpPr>
        <p:spPr>
          <a:xfrm rot="0">
            <a:off x="1500154" y="2433012"/>
            <a:ext cx="6234065" cy="1269087"/>
          </a:xfrm>
          <a:prstGeom prst="rect">
            <a:avLst/>
          </a:prstGeom>
        </p:spPr>
        <p:txBody>
          <a:bodyPr anchor="t" rtlCol="false" tIns="0" lIns="0" bIns="0" rIns="0">
            <a:spAutoFit/>
          </a:bodyPr>
          <a:lstStyle/>
          <a:p>
            <a:pPr algn="just" marL="0" indent="0" lvl="0">
              <a:lnSpc>
                <a:spcPts val="10375"/>
              </a:lnSpc>
              <a:spcBef>
                <a:spcPct val="0"/>
              </a:spcBef>
            </a:pPr>
            <a:r>
              <a:rPr lang="en-US" sz="7410" spc="-452">
                <a:solidFill>
                  <a:srgbClr val="FFFFFF"/>
                </a:solidFill>
                <a:latin typeface="Montserrat"/>
                <a:ea typeface="Montserrat"/>
                <a:cs typeface="Montserrat"/>
                <a:sym typeface="Montserrat"/>
              </a:rPr>
              <a:t>Types of</a:t>
            </a:r>
          </a:p>
        </p:txBody>
      </p:sp>
      <p:sp>
        <p:nvSpPr>
          <p:cNvPr name="TextBox 7" id="7"/>
          <p:cNvSpPr txBox="true"/>
          <p:nvPr/>
        </p:nvSpPr>
        <p:spPr>
          <a:xfrm rot="0">
            <a:off x="1524401" y="3906653"/>
            <a:ext cx="8430373" cy="1277642"/>
          </a:xfrm>
          <a:prstGeom prst="rect">
            <a:avLst/>
          </a:prstGeom>
        </p:spPr>
        <p:txBody>
          <a:bodyPr anchor="t" rtlCol="false" tIns="0" lIns="0" bIns="0" rIns="0">
            <a:spAutoFit/>
          </a:bodyPr>
          <a:lstStyle/>
          <a:p>
            <a:pPr algn="just" marL="0" indent="0" lvl="0">
              <a:lnSpc>
                <a:spcPts val="10428"/>
              </a:lnSpc>
              <a:spcBef>
                <a:spcPct val="0"/>
              </a:spcBef>
            </a:pPr>
            <a:r>
              <a:rPr lang="en-US" b="true" sz="7449" spc="-454">
                <a:solidFill>
                  <a:srgbClr val="FFFFFF"/>
                </a:solidFill>
                <a:latin typeface="Montserrat Bold"/>
                <a:ea typeface="Montserrat Bold"/>
                <a:cs typeface="Montserrat Bold"/>
                <a:sym typeface="Montserrat Bold"/>
              </a:rPr>
              <a:t>AGENTS</a:t>
            </a:r>
          </a:p>
        </p:txBody>
      </p:sp>
      <p:sp>
        <p:nvSpPr>
          <p:cNvPr name="Freeform 8" id="8"/>
          <p:cNvSpPr/>
          <p:nvPr/>
        </p:nvSpPr>
        <p:spPr>
          <a:xfrm flipH="false" flipV="false" rot="0">
            <a:off x="14210843" y="2358313"/>
            <a:ext cx="6713643" cy="6750464"/>
          </a:xfrm>
          <a:custGeom>
            <a:avLst/>
            <a:gdLst/>
            <a:ahLst/>
            <a:cxnLst/>
            <a:rect r="r" b="b" t="t" l="l"/>
            <a:pathLst>
              <a:path h="6750464" w="6713643">
                <a:moveTo>
                  <a:pt x="0" y="0"/>
                </a:moveTo>
                <a:lnTo>
                  <a:pt x="6713643" y="0"/>
                </a:lnTo>
                <a:lnTo>
                  <a:pt x="6713643" y="6750464"/>
                </a:lnTo>
                <a:lnTo>
                  <a:pt x="0" y="6750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9954774" y="2358313"/>
            <a:ext cx="6713643" cy="6750464"/>
          </a:xfrm>
          <a:custGeom>
            <a:avLst/>
            <a:gdLst/>
            <a:ahLst/>
            <a:cxnLst/>
            <a:rect r="r" b="b" t="t" l="l"/>
            <a:pathLst>
              <a:path h="6750464" w="6713643">
                <a:moveTo>
                  <a:pt x="0" y="0"/>
                </a:moveTo>
                <a:lnTo>
                  <a:pt x="6713643" y="0"/>
                </a:lnTo>
                <a:lnTo>
                  <a:pt x="6713643" y="6750464"/>
                </a:lnTo>
                <a:lnTo>
                  <a:pt x="0" y="6750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8795804" y="2493900"/>
            <a:ext cx="1555629" cy="155562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8FF"/>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2871"/>
                </a:lnSpc>
              </a:pPr>
            </a:p>
          </p:txBody>
        </p:sp>
      </p:grpSp>
      <p:grpSp>
        <p:nvGrpSpPr>
          <p:cNvPr name="Group 13" id="13"/>
          <p:cNvGrpSpPr/>
          <p:nvPr/>
        </p:nvGrpSpPr>
        <p:grpSpPr>
          <a:xfrm rot="0">
            <a:off x="504893" y="6094439"/>
            <a:ext cx="2651602" cy="566532"/>
            <a:chOff x="0" y="0"/>
            <a:chExt cx="698364" cy="149210"/>
          </a:xfrm>
        </p:grpSpPr>
        <p:sp>
          <p:nvSpPr>
            <p:cNvPr name="Freeform 14" id="14"/>
            <p:cNvSpPr/>
            <p:nvPr/>
          </p:nvSpPr>
          <p:spPr>
            <a:xfrm flipH="false" flipV="false" rot="0">
              <a:off x="0" y="0"/>
              <a:ext cx="698364" cy="149210"/>
            </a:xfrm>
            <a:custGeom>
              <a:avLst/>
              <a:gdLst/>
              <a:ahLst/>
              <a:cxnLst/>
              <a:rect r="r" b="b" t="t" l="l"/>
              <a:pathLst>
                <a:path h="149210" w="698364">
                  <a:moveTo>
                    <a:pt x="74605" y="0"/>
                  </a:moveTo>
                  <a:lnTo>
                    <a:pt x="623759" y="0"/>
                  </a:lnTo>
                  <a:cubicBezTo>
                    <a:pt x="664963" y="0"/>
                    <a:pt x="698364" y="33402"/>
                    <a:pt x="698364" y="74605"/>
                  </a:cubicBezTo>
                  <a:lnTo>
                    <a:pt x="698364" y="74605"/>
                  </a:lnTo>
                  <a:cubicBezTo>
                    <a:pt x="698364" y="115808"/>
                    <a:pt x="664963" y="149210"/>
                    <a:pt x="623759" y="149210"/>
                  </a:cubicBezTo>
                  <a:lnTo>
                    <a:pt x="74605" y="149210"/>
                  </a:lnTo>
                  <a:cubicBezTo>
                    <a:pt x="33402" y="149210"/>
                    <a:pt x="0" y="115808"/>
                    <a:pt x="0" y="74605"/>
                  </a:cubicBezTo>
                  <a:lnTo>
                    <a:pt x="0" y="74605"/>
                  </a:lnTo>
                  <a:cubicBezTo>
                    <a:pt x="0" y="33402"/>
                    <a:pt x="33402" y="0"/>
                    <a:pt x="74605" y="0"/>
                  </a:cubicBezTo>
                  <a:close/>
                </a:path>
              </a:pathLst>
            </a:custGeom>
            <a:solidFill>
              <a:srgbClr val="22415A"/>
            </a:solidFill>
          </p:spPr>
        </p:sp>
        <p:sp>
          <p:nvSpPr>
            <p:cNvPr name="TextBox 15" id="15"/>
            <p:cNvSpPr txBox="true"/>
            <p:nvPr/>
          </p:nvSpPr>
          <p:spPr>
            <a:xfrm>
              <a:off x="0" y="-38100"/>
              <a:ext cx="698364" cy="187310"/>
            </a:xfrm>
            <a:prstGeom prst="rect">
              <a:avLst/>
            </a:prstGeom>
          </p:spPr>
          <p:txBody>
            <a:bodyPr anchor="ctr" rtlCol="false" tIns="50800" lIns="50800" bIns="50800" rIns="50800"/>
            <a:lstStyle/>
            <a:p>
              <a:pPr algn="ctr">
                <a:lnSpc>
                  <a:spcPts val="2659"/>
                </a:lnSpc>
              </a:pPr>
              <a:r>
                <a:rPr lang="en-US" sz="1899" spc="3">
                  <a:solidFill>
                    <a:srgbClr val="FFFFFF"/>
                  </a:solidFill>
                  <a:latin typeface="Montserrat"/>
                  <a:ea typeface="Montserrat"/>
                  <a:cs typeface="Montserrat"/>
                  <a:sym typeface="Montserrat"/>
                </a:rPr>
                <a:t>Routing Agent</a:t>
              </a:r>
            </a:p>
          </p:txBody>
        </p:sp>
      </p:grpSp>
      <p:sp>
        <p:nvSpPr>
          <p:cNvPr name="TextBox 16" id="16"/>
          <p:cNvSpPr txBox="true"/>
          <p:nvPr/>
        </p:nvSpPr>
        <p:spPr>
          <a:xfrm rot="0">
            <a:off x="949763" y="740947"/>
            <a:ext cx="1761862" cy="37259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Montserrat Heavy"/>
                <a:ea typeface="Montserrat Heavy"/>
                <a:cs typeface="Montserrat Heavy"/>
                <a:sym typeface="Montserrat Heavy"/>
              </a:rPr>
              <a:t>Neural</a:t>
            </a:r>
          </a:p>
        </p:txBody>
      </p:sp>
      <p:sp>
        <p:nvSpPr>
          <p:cNvPr name="TextBox 17" id="17"/>
          <p:cNvSpPr txBox="true"/>
          <p:nvPr/>
        </p:nvSpPr>
        <p:spPr>
          <a:xfrm rot="0">
            <a:off x="2062637" y="740393"/>
            <a:ext cx="1761862" cy="37259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Montserrat"/>
                <a:ea typeface="Montserrat"/>
                <a:cs typeface="Montserrat"/>
                <a:sym typeface="Montserrat"/>
              </a:rPr>
              <a:t>Nexus</a:t>
            </a:r>
          </a:p>
        </p:txBody>
      </p:sp>
      <p:grpSp>
        <p:nvGrpSpPr>
          <p:cNvPr name="Group 18" id="18"/>
          <p:cNvGrpSpPr/>
          <p:nvPr/>
        </p:nvGrpSpPr>
        <p:grpSpPr>
          <a:xfrm rot="0">
            <a:off x="5082617" y="6094439"/>
            <a:ext cx="2651602" cy="566532"/>
            <a:chOff x="0" y="0"/>
            <a:chExt cx="698364" cy="149210"/>
          </a:xfrm>
        </p:grpSpPr>
        <p:sp>
          <p:nvSpPr>
            <p:cNvPr name="Freeform 19" id="19"/>
            <p:cNvSpPr/>
            <p:nvPr/>
          </p:nvSpPr>
          <p:spPr>
            <a:xfrm flipH="false" flipV="false" rot="0">
              <a:off x="0" y="0"/>
              <a:ext cx="698364" cy="149210"/>
            </a:xfrm>
            <a:custGeom>
              <a:avLst/>
              <a:gdLst/>
              <a:ahLst/>
              <a:cxnLst/>
              <a:rect r="r" b="b" t="t" l="l"/>
              <a:pathLst>
                <a:path h="149210" w="698364">
                  <a:moveTo>
                    <a:pt x="74605" y="0"/>
                  </a:moveTo>
                  <a:lnTo>
                    <a:pt x="623759" y="0"/>
                  </a:lnTo>
                  <a:cubicBezTo>
                    <a:pt x="664963" y="0"/>
                    <a:pt x="698364" y="33402"/>
                    <a:pt x="698364" y="74605"/>
                  </a:cubicBezTo>
                  <a:lnTo>
                    <a:pt x="698364" y="74605"/>
                  </a:lnTo>
                  <a:cubicBezTo>
                    <a:pt x="698364" y="115808"/>
                    <a:pt x="664963" y="149210"/>
                    <a:pt x="623759" y="149210"/>
                  </a:cubicBezTo>
                  <a:lnTo>
                    <a:pt x="74605" y="149210"/>
                  </a:lnTo>
                  <a:cubicBezTo>
                    <a:pt x="33402" y="149210"/>
                    <a:pt x="0" y="115808"/>
                    <a:pt x="0" y="74605"/>
                  </a:cubicBezTo>
                  <a:lnTo>
                    <a:pt x="0" y="74605"/>
                  </a:lnTo>
                  <a:cubicBezTo>
                    <a:pt x="0" y="33402"/>
                    <a:pt x="33402" y="0"/>
                    <a:pt x="74605" y="0"/>
                  </a:cubicBezTo>
                  <a:close/>
                </a:path>
              </a:pathLst>
            </a:custGeom>
            <a:solidFill>
              <a:srgbClr val="545454"/>
            </a:solidFill>
          </p:spPr>
        </p:sp>
        <p:sp>
          <p:nvSpPr>
            <p:cNvPr name="TextBox 20" id="20"/>
            <p:cNvSpPr txBox="true"/>
            <p:nvPr/>
          </p:nvSpPr>
          <p:spPr>
            <a:xfrm>
              <a:off x="0" y="-38100"/>
              <a:ext cx="698364" cy="187310"/>
            </a:xfrm>
            <a:prstGeom prst="rect">
              <a:avLst/>
            </a:prstGeom>
          </p:spPr>
          <p:txBody>
            <a:bodyPr anchor="ctr" rtlCol="false" tIns="50800" lIns="50800" bIns="50800" rIns="50800"/>
            <a:lstStyle/>
            <a:p>
              <a:pPr algn="ctr">
                <a:lnSpc>
                  <a:spcPts val="2659"/>
                </a:lnSpc>
              </a:pPr>
              <a:r>
                <a:rPr lang="en-US" sz="1899" spc="3">
                  <a:solidFill>
                    <a:srgbClr val="FFFFFF"/>
                  </a:solidFill>
                  <a:latin typeface="Montserrat"/>
                  <a:ea typeface="Montserrat"/>
                  <a:cs typeface="Montserrat"/>
                  <a:sym typeface="Montserrat"/>
                </a:rPr>
                <a:t>Retrieval Agent</a:t>
              </a:r>
            </a:p>
          </p:txBody>
        </p:sp>
      </p:grpSp>
      <p:grpSp>
        <p:nvGrpSpPr>
          <p:cNvPr name="Group 21" id="21"/>
          <p:cNvGrpSpPr/>
          <p:nvPr/>
        </p:nvGrpSpPr>
        <p:grpSpPr>
          <a:xfrm rot="0">
            <a:off x="5977371" y="7176709"/>
            <a:ext cx="2651602" cy="566532"/>
            <a:chOff x="0" y="0"/>
            <a:chExt cx="698364" cy="149210"/>
          </a:xfrm>
        </p:grpSpPr>
        <p:sp>
          <p:nvSpPr>
            <p:cNvPr name="Freeform 22" id="22"/>
            <p:cNvSpPr/>
            <p:nvPr/>
          </p:nvSpPr>
          <p:spPr>
            <a:xfrm flipH="false" flipV="false" rot="0">
              <a:off x="0" y="0"/>
              <a:ext cx="698364" cy="149210"/>
            </a:xfrm>
            <a:custGeom>
              <a:avLst/>
              <a:gdLst/>
              <a:ahLst/>
              <a:cxnLst/>
              <a:rect r="r" b="b" t="t" l="l"/>
              <a:pathLst>
                <a:path h="149210" w="698364">
                  <a:moveTo>
                    <a:pt x="74605" y="0"/>
                  </a:moveTo>
                  <a:lnTo>
                    <a:pt x="623759" y="0"/>
                  </a:lnTo>
                  <a:cubicBezTo>
                    <a:pt x="664963" y="0"/>
                    <a:pt x="698364" y="33402"/>
                    <a:pt x="698364" y="74605"/>
                  </a:cubicBezTo>
                  <a:lnTo>
                    <a:pt x="698364" y="74605"/>
                  </a:lnTo>
                  <a:cubicBezTo>
                    <a:pt x="698364" y="115808"/>
                    <a:pt x="664963" y="149210"/>
                    <a:pt x="623759" y="149210"/>
                  </a:cubicBezTo>
                  <a:lnTo>
                    <a:pt x="74605" y="149210"/>
                  </a:lnTo>
                  <a:cubicBezTo>
                    <a:pt x="33402" y="149210"/>
                    <a:pt x="0" y="115808"/>
                    <a:pt x="0" y="74605"/>
                  </a:cubicBezTo>
                  <a:lnTo>
                    <a:pt x="0" y="74605"/>
                  </a:lnTo>
                  <a:cubicBezTo>
                    <a:pt x="0" y="33402"/>
                    <a:pt x="33402" y="0"/>
                    <a:pt x="74605" y="0"/>
                  </a:cubicBezTo>
                  <a:close/>
                </a:path>
              </a:pathLst>
            </a:custGeom>
            <a:solidFill>
              <a:srgbClr val="22415A"/>
            </a:solidFill>
          </p:spPr>
        </p:sp>
        <p:sp>
          <p:nvSpPr>
            <p:cNvPr name="TextBox 23" id="23"/>
            <p:cNvSpPr txBox="true"/>
            <p:nvPr/>
          </p:nvSpPr>
          <p:spPr>
            <a:xfrm>
              <a:off x="0" y="-38100"/>
              <a:ext cx="698364" cy="187310"/>
            </a:xfrm>
            <a:prstGeom prst="rect">
              <a:avLst/>
            </a:prstGeom>
          </p:spPr>
          <p:txBody>
            <a:bodyPr anchor="ctr" rtlCol="false" tIns="50800" lIns="50800" bIns="50800" rIns="50800"/>
            <a:lstStyle/>
            <a:p>
              <a:pPr algn="ctr">
                <a:lnSpc>
                  <a:spcPts val="2659"/>
                </a:lnSpc>
              </a:pPr>
              <a:r>
                <a:rPr lang="en-US" sz="1899" spc="3">
                  <a:solidFill>
                    <a:srgbClr val="FFFFFF"/>
                  </a:solidFill>
                  <a:latin typeface="Montserrat"/>
                  <a:ea typeface="Montserrat"/>
                  <a:cs typeface="Montserrat"/>
                  <a:sym typeface="Montserrat"/>
                </a:rPr>
                <a:t>Validation Agent</a:t>
              </a:r>
            </a:p>
          </p:txBody>
        </p:sp>
      </p:grpSp>
      <p:grpSp>
        <p:nvGrpSpPr>
          <p:cNvPr name="Group 24" id="24"/>
          <p:cNvGrpSpPr/>
          <p:nvPr/>
        </p:nvGrpSpPr>
        <p:grpSpPr>
          <a:xfrm rot="0">
            <a:off x="2188920" y="8257591"/>
            <a:ext cx="2651602" cy="566532"/>
            <a:chOff x="0" y="0"/>
            <a:chExt cx="698364" cy="149210"/>
          </a:xfrm>
        </p:grpSpPr>
        <p:sp>
          <p:nvSpPr>
            <p:cNvPr name="Freeform 25" id="25"/>
            <p:cNvSpPr/>
            <p:nvPr/>
          </p:nvSpPr>
          <p:spPr>
            <a:xfrm flipH="false" flipV="false" rot="0">
              <a:off x="0" y="0"/>
              <a:ext cx="698364" cy="149210"/>
            </a:xfrm>
            <a:custGeom>
              <a:avLst/>
              <a:gdLst/>
              <a:ahLst/>
              <a:cxnLst/>
              <a:rect r="r" b="b" t="t" l="l"/>
              <a:pathLst>
                <a:path h="149210" w="698364">
                  <a:moveTo>
                    <a:pt x="74605" y="0"/>
                  </a:moveTo>
                  <a:lnTo>
                    <a:pt x="623759" y="0"/>
                  </a:lnTo>
                  <a:cubicBezTo>
                    <a:pt x="664963" y="0"/>
                    <a:pt x="698364" y="33402"/>
                    <a:pt x="698364" y="74605"/>
                  </a:cubicBezTo>
                  <a:lnTo>
                    <a:pt x="698364" y="74605"/>
                  </a:lnTo>
                  <a:cubicBezTo>
                    <a:pt x="698364" y="115808"/>
                    <a:pt x="664963" y="149210"/>
                    <a:pt x="623759" y="149210"/>
                  </a:cubicBezTo>
                  <a:lnTo>
                    <a:pt x="74605" y="149210"/>
                  </a:lnTo>
                  <a:cubicBezTo>
                    <a:pt x="33402" y="149210"/>
                    <a:pt x="0" y="115808"/>
                    <a:pt x="0" y="74605"/>
                  </a:cubicBezTo>
                  <a:lnTo>
                    <a:pt x="0" y="74605"/>
                  </a:lnTo>
                  <a:cubicBezTo>
                    <a:pt x="0" y="33402"/>
                    <a:pt x="33402" y="0"/>
                    <a:pt x="74605" y="0"/>
                  </a:cubicBezTo>
                  <a:close/>
                </a:path>
              </a:pathLst>
            </a:custGeom>
            <a:solidFill>
              <a:srgbClr val="22415A"/>
            </a:solidFill>
          </p:spPr>
        </p:sp>
        <p:sp>
          <p:nvSpPr>
            <p:cNvPr name="TextBox 26" id="26"/>
            <p:cNvSpPr txBox="true"/>
            <p:nvPr/>
          </p:nvSpPr>
          <p:spPr>
            <a:xfrm>
              <a:off x="0" y="-38100"/>
              <a:ext cx="698364" cy="187310"/>
            </a:xfrm>
            <a:prstGeom prst="rect">
              <a:avLst/>
            </a:prstGeom>
          </p:spPr>
          <p:txBody>
            <a:bodyPr anchor="ctr" rtlCol="false" tIns="50800" lIns="50800" bIns="50800" rIns="50800"/>
            <a:lstStyle/>
            <a:p>
              <a:pPr algn="ctr">
                <a:lnSpc>
                  <a:spcPts val="2659"/>
                </a:lnSpc>
              </a:pPr>
              <a:r>
                <a:rPr lang="en-US" sz="1899" spc="3">
                  <a:solidFill>
                    <a:srgbClr val="FFFFFF"/>
                  </a:solidFill>
                  <a:latin typeface="Montserrat"/>
                  <a:ea typeface="Montserrat"/>
                  <a:cs typeface="Montserrat"/>
                  <a:sym typeface="Montserrat"/>
                </a:rPr>
                <a:t>Compliance Agent</a:t>
              </a:r>
            </a:p>
          </p:txBody>
        </p:sp>
      </p:grpSp>
      <p:grpSp>
        <p:nvGrpSpPr>
          <p:cNvPr name="Group 27" id="27"/>
          <p:cNvGrpSpPr/>
          <p:nvPr/>
        </p:nvGrpSpPr>
        <p:grpSpPr>
          <a:xfrm rot="0">
            <a:off x="1076046" y="7176709"/>
            <a:ext cx="2651602" cy="566532"/>
            <a:chOff x="0" y="0"/>
            <a:chExt cx="698364" cy="149210"/>
          </a:xfrm>
        </p:grpSpPr>
        <p:sp>
          <p:nvSpPr>
            <p:cNvPr name="Freeform 28" id="28"/>
            <p:cNvSpPr/>
            <p:nvPr/>
          </p:nvSpPr>
          <p:spPr>
            <a:xfrm flipH="false" flipV="false" rot="0">
              <a:off x="0" y="0"/>
              <a:ext cx="698364" cy="149210"/>
            </a:xfrm>
            <a:custGeom>
              <a:avLst/>
              <a:gdLst/>
              <a:ahLst/>
              <a:cxnLst/>
              <a:rect r="r" b="b" t="t" l="l"/>
              <a:pathLst>
                <a:path h="149210" w="698364">
                  <a:moveTo>
                    <a:pt x="74605" y="0"/>
                  </a:moveTo>
                  <a:lnTo>
                    <a:pt x="623759" y="0"/>
                  </a:lnTo>
                  <a:cubicBezTo>
                    <a:pt x="664963" y="0"/>
                    <a:pt x="698364" y="33402"/>
                    <a:pt x="698364" y="74605"/>
                  </a:cubicBezTo>
                  <a:lnTo>
                    <a:pt x="698364" y="74605"/>
                  </a:lnTo>
                  <a:cubicBezTo>
                    <a:pt x="698364" y="115808"/>
                    <a:pt x="664963" y="149210"/>
                    <a:pt x="623759" y="149210"/>
                  </a:cubicBezTo>
                  <a:lnTo>
                    <a:pt x="74605" y="149210"/>
                  </a:lnTo>
                  <a:cubicBezTo>
                    <a:pt x="33402" y="149210"/>
                    <a:pt x="0" y="115808"/>
                    <a:pt x="0" y="74605"/>
                  </a:cubicBezTo>
                  <a:lnTo>
                    <a:pt x="0" y="74605"/>
                  </a:lnTo>
                  <a:cubicBezTo>
                    <a:pt x="0" y="33402"/>
                    <a:pt x="33402" y="0"/>
                    <a:pt x="74605" y="0"/>
                  </a:cubicBezTo>
                  <a:close/>
                </a:path>
              </a:pathLst>
            </a:custGeom>
            <a:solidFill>
              <a:srgbClr val="696969"/>
            </a:solidFill>
          </p:spPr>
        </p:sp>
        <p:sp>
          <p:nvSpPr>
            <p:cNvPr name="TextBox 29" id="29"/>
            <p:cNvSpPr txBox="true"/>
            <p:nvPr/>
          </p:nvSpPr>
          <p:spPr>
            <a:xfrm>
              <a:off x="0" y="-38100"/>
              <a:ext cx="698364" cy="187310"/>
            </a:xfrm>
            <a:prstGeom prst="rect">
              <a:avLst/>
            </a:prstGeom>
          </p:spPr>
          <p:txBody>
            <a:bodyPr anchor="ctr" rtlCol="false" tIns="50800" lIns="50800" bIns="50800" rIns="50800"/>
            <a:lstStyle/>
            <a:p>
              <a:pPr algn="ctr">
                <a:lnSpc>
                  <a:spcPts val="2659"/>
                </a:lnSpc>
              </a:pPr>
              <a:r>
                <a:rPr lang="en-US" sz="1899" spc="3">
                  <a:solidFill>
                    <a:srgbClr val="FFFFFF"/>
                  </a:solidFill>
                  <a:latin typeface="Montserrat"/>
                  <a:ea typeface="Montserrat"/>
                  <a:cs typeface="Montserrat"/>
                  <a:sym typeface="Montserrat"/>
                </a:rPr>
                <a:t>Reasoning Agent</a:t>
              </a:r>
            </a:p>
          </p:txBody>
        </p:sp>
      </p:grpSp>
      <p:grpSp>
        <p:nvGrpSpPr>
          <p:cNvPr name="Group 30" id="30"/>
          <p:cNvGrpSpPr/>
          <p:nvPr/>
        </p:nvGrpSpPr>
        <p:grpSpPr>
          <a:xfrm rot="0">
            <a:off x="7170436" y="8257591"/>
            <a:ext cx="2651602" cy="566532"/>
            <a:chOff x="0" y="0"/>
            <a:chExt cx="698364" cy="149210"/>
          </a:xfrm>
        </p:grpSpPr>
        <p:sp>
          <p:nvSpPr>
            <p:cNvPr name="Freeform 31" id="31"/>
            <p:cNvSpPr/>
            <p:nvPr/>
          </p:nvSpPr>
          <p:spPr>
            <a:xfrm flipH="false" flipV="false" rot="0">
              <a:off x="0" y="0"/>
              <a:ext cx="698364" cy="149210"/>
            </a:xfrm>
            <a:custGeom>
              <a:avLst/>
              <a:gdLst/>
              <a:ahLst/>
              <a:cxnLst/>
              <a:rect r="r" b="b" t="t" l="l"/>
              <a:pathLst>
                <a:path h="149210" w="698364">
                  <a:moveTo>
                    <a:pt x="74605" y="0"/>
                  </a:moveTo>
                  <a:lnTo>
                    <a:pt x="623759" y="0"/>
                  </a:lnTo>
                  <a:cubicBezTo>
                    <a:pt x="664963" y="0"/>
                    <a:pt x="698364" y="33402"/>
                    <a:pt x="698364" y="74605"/>
                  </a:cubicBezTo>
                  <a:lnTo>
                    <a:pt x="698364" y="74605"/>
                  </a:lnTo>
                  <a:cubicBezTo>
                    <a:pt x="698364" y="115808"/>
                    <a:pt x="664963" y="149210"/>
                    <a:pt x="623759" y="149210"/>
                  </a:cubicBezTo>
                  <a:lnTo>
                    <a:pt x="74605" y="149210"/>
                  </a:lnTo>
                  <a:cubicBezTo>
                    <a:pt x="33402" y="149210"/>
                    <a:pt x="0" y="115808"/>
                    <a:pt x="0" y="74605"/>
                  </a:cubicBezTo>
                  <a:lnTo>
                    <a:pt x="0" y="74605"/>
                  </a:lnTo>
                  <a:cubicBezTo>
                    <a:pt x="0" y="33402"/>
                    <a:pt x="33402" y="0"/>
                    <a:pt x="74605" y="0"/>
                  </a:cubicBezTo>
                  <a:close/>
                </a:path>
              </a:pathLst>
            </a:custGeom>
            <a:solidFill>
              <a:srgbClr val="545454"/>
            </a:solidFill>
          </p:spPr>
        </p:sp>
        <p:sp>
          <p:nvSpPr>
            <p:cNvPr name="TextBox 32" id="32"/>
            <p:cNvSpPr txBox="true"/>
            <p:nvPr/>
          </p:nvSpPr>
          <p:spPr>
            <a:xfrm>
              <a:off x="0" y="-38100"/>
              <a:ext cx="698364" cy="187310"/>
            </a:xfrm>
            <a:prstGeom prst="rect">
              <a:avLst/>
            </a:prstGeom>
          </p:spPr>
          <p:txBody>
            <a:bodyPr anchor="ctr" rtlCol="false" tIns="50800" lIns="50800" bIns="50800" rIns="50800"/>
            <a:lstStyle/>
            <a:p>
              <a:pPr algn="ctr">
                <a:lnSpc>
                  <a:spcPts val="2659"/>
                </a:lnSpc>
              </a:pPr>
              <a:r>
                <a:rPr lang="en-US" sz="1899" spc="3">
                  <a:solidFill>
                    <a:srgbClr val="FFFFFF"/>
                  </a:solidFill>
                  <a:latin typeface="Montserrat"/>
                  <a:ea typeface="Montserrat"/>
                  <a:cs typeface="Montserrat"/>
                  <a:sym typeface="Montserrat"/>
                </a:rPr>
                <a:t>Risk Agent</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513352" y="667880"/>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18FF"/>
            </a:soli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false" rot="0">
            <a:off x="3243294" y="6446622"/>
            <a:ext cx="2796342" cy="2811678"/>
          </a:xfrm>
          <a:custGeom>
            <a:avLst/>
            <a:gdLst/>
            <a:ahLst/>
            <a:cxnLst/>
            <a:rect r="r" b="b" t="t" l="l"/>
            <a:pathLst>
              <a:path h="2811678" w="2796342">
                <a:moveTo>
                  <a:pt x="2796342" y="0"/>
                </a:moveTo>
                <a:lnTo>
                  <a:pt x="0" y="0"/>
                </a:lnTo>
                <a:lnTo>
                  <a:pt x="0" y="2811678"/>
                </a:lnTo>
                <a:lnTo>
                  <a:pt x="2796342" y="2811678"/>
                </a:lnTo>
                <a:lnTo>
                  <a:pt x="2796342" y="0"/>
                </a:lnTo>
                <a:close/>
              </a:path>
            </a:pathLst>
          </a:custGeom>
          <a:blipFill>
            <a:blip r:embed="rId2">
              <a:alphaModFix amt="28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545397" y="7127218"/>
            <a:ext cx="2796342" cy="2811678"/>
          </a:xfrm>
          <a:custGeom>
            <a:avLst/>
            <a:gdLst/>
            <a:ahLst/>
            <a:cxnLst/>
            <a:rect r="r" b="b" t="t" l="l"/>
            <a:pathLst>
              <a:path h="2811678" w="2796342">
                <a:moveTo>
                  <a:pt x="2796342" y="0"/>
                </a:moveTo>
                <a:lnTo>
                  <a:pt x="0" y="0"/>
                </a:lnTo>
                <a:lnTo>
                  <a:pt x="0" y="2811678"/>
                </a:lnTo>
                <a:lnTo>
                  <a:pt x="2796342" y="2811678"/>
                </a:lnTo>
                <a:lnTo>
                  <a:pt x="2796342" y="0"/>
                </a:lnTo>
                <a:close/>
              </a:path>
            </a:pathLst>
          </a:custGeom>
          <a:blipFill>
            <a:blip r:embed="rId2">
              <a:alphaModFix amt="28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1339134" y="778493"/>
            <a:ext cx="2228153" cy="2240373"/>
          </a:xfrm>
          <a:custGeom>
            <a:avLst/>
            <a:gdLst/>
            <a:ahLst/>
            <a:cxnLst/>
            <a:rect r="r" b="b" t="t" l="l"/>
            <a:pathLst>
              <a:path h="2240373" w="2228153">
                <a:moveTo>
                  <a:pt x="2228153" y="0"/>
                </a:moveTo>
                <a:lnTo>
                  <a:pt x="0" y="0"/>
                </a:lnTo>
                <a:lnTo>
                  <a:pt x="0" y="2240374"/>
                </a:lnTo>
                <a:lnTo>
                  <a:pt x="2228153" y="2240374"/>
                </a:lnTo>
                <a:lnTo>
                  <a:pt x="2228153" y="0"/>
                </a:lnTo>
                <a:close/>
              </a:path>
            </a:pathLst>
          </a:custGeom>
          <a:blipFill>
            <a:blip r:embed="rId2">
              <a:alphaModFix amt="47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2062637" y="7659349"/>
            <a:ext cx="193112" cy="193112"/>
            <a:chOff x="0" y="0"/>
            <a:chExt cx="206757" cy="206757"/>
          </a:xfrm>
        </p:grpSpPr>
        <p:sp>
          <p:nvSpPr>
            <p:cNvPr name="Freeform 9" id="9"/>
            <p:cNvSpPr/>
            <p:nvPr/>
          </p:nvSpPr>
          <p:spPr>
            <a:xfrm flipH="false" flipV="false" rot="0">
              <a:off x="0" y="0"/>
              <a:ext cx="206757" cy="206757"/>
            </a:xfrm>
            <a:custGeom>
              <a:avLst/>
              <a:gdLst/>
              <a:ahLst/>
              <a:cxnLst/>
              <a:rect r="r" b="b" t="t" l="l"/>
              <a:pathLst>
                <a:path h="206757" w="206757">
                  <a:moveTo>
                    <a:pt x="103379" y="0"/>
                  </a:moveTo>
                  <a:cubicBezTo>
                    <a:pt x="46284" y="0"/>
                    <a:pt x="0" y="46284"/>
                    <a:pt x="0" y="103379"/>
                  </a:cubicBezTo>
                  <a:cubicBezTo>
                    <a:pt x="0" y="160473"/>
                    <a:pt x="46284" y="206757"/>
                    <a:pt x="103379" y="206757"/>
                  </a:cubicBezTo>
                  <a:cubicBezTo>
                    <a:pt x="160473" y="206757"/>
                    <a:pt x="206757" y="160473"/>
                    <a:pt x="206757" y="103379"/>
                  </a:cubicBezTo>
                  <a:cubicBezTo>
                    <a:pt x="206757" y="46284"/>
                    <a:pt x="160473" y="0"/>
                    <a:pt x="103379" y="0"/>
                  </a:cubicBezTo>
                  <a:close/>
                </a:path>
              </a:pathLst>
            </a:custGeom>
            <a:solidFill>
              <a:srgbClr val="0018FF"/>
            </a:solidFill>
          </p:spPr>
        </p:sp>
        <p:sp>
          <p:nvSpPr>
            <p:cNvPr name="TextBox 10" id="10"/>
            <p:cNvSpPr txBox="true"/>
            <p:nvPr/>
          </p:nvSpPr>
          <p:spPr>
            <a:xfrm>
              <a:off x="19383" y="-18717"/>
              <a:ext cx="167990" cy="206090"/>
            </a:xfrm>
            <a:prstGeom prst="rect">
              <a:avLst/>
            </a:prstGeom>
          </p:spPr>
          <p:txBody>
            <a:bodyPr anchor="ctr" rtlCol="false" tIns="50800" lIns="50800" bIns="50800" rIns="50800"/>
            <a:lstStyle/>
            <a:p>
              <a:pPr algn="ctr">
                <a:lnSpc>
                  <a:spcPts val="2871"/>
                </a:lnSpc>
              </a:pPr>
            </a:p>
          </p:txBody>
        </p:sp>
      </p:grpSp>
      <p:grpSp>
        <p:nvGrpSpPr>
          <p:cNvPr name="Group 11" id="11"/>
          <p:cNvGrpSpPr/>
          <p:nvPr/>
        </p:nvGrpSpPr>
        <p:grpSpPr>
          <a:xfrm rot="0">
            <a:off x="7411267" y="7657724"/>
            <a:ext cx="193112" cy="193112"/>
            <a:chOff x="0" y="0"/>
            <a:chExt cx="206757" cy="206757"/>
          </a:xfrm>
        </p:grpSpPr>
        <p:sp>
          <p:nvSpPr>
            <p:cNvPr name="Freeform 12" id="12"/>
            <p:cNvSpPr/>
            <p:nvPr/>
          </p:nvSpPr>
          <p:spPr>
            <a:xfrm flipH="false" flipV="false" rot="0">
              <a:off x="0" y="0"/>
              <a:ext cx="206757" cy="206757"/>
            </a:xfrm>
            <a:custGeom>
              <a:avLst/>
              <a:gdLst/>
              <a:ahLst/>
              <a:cxnLst/>
              <a:rect r="r" b="b" t="t" l="l"/>
              <a:pathLst>
                <a:path h="206757" w="206757">
                  <a:moveTo>
                    <a:pt x="103379" y="0"/>
                  </a:moveTo>
                  <a:cubicBezTo>
                    <a:pt x="46284" y="0"/>
                    <a:pt x="0" y="46284"/>
                    <a:pt x="0" y="103379"/>
                  </a:cubicBezTo>
                  <a:cubicBezTo>
                    <a:pt x="0" y="160473"/>
                    <a:pt x="46284" y="206757"/>
                    <a:pt x="103379" y="206757"/>
                  </a:cubicBezTo>
                  <a:cubicBezTo>
                    <a:pt x="160473" y="206757"/>
                    <a:pt x="206757" y="160473"/>
                    <a:pt x="206757" y="103379"/>
                  </a:cubicBezTo>
                  <a:cubicBezTo>
                    <a:pt x="206757" y="46284"/>
                    <a:pt x="160473" y="0"/>
                    <a:pt x="103379" y="0"/>
                  </a:cubicBezTo>
                  <a:close/>
                </a:path>
              </a:pathLst>
            </a:custGeom>
            <a:solidFill>
              <a:srgbClr val="0018FF"/>
            </a:solidFill>
          </p:spPr>
        </p:sp>
        <p:sp>
          <p:nvSpPr>
            <p:cNvPr name="TextBox 13" id="13"/>
            <p:cNvSpPr txBox="true"/>
            <p:nvPr/>
          </p:nvSpPr>
          <p:spPr>
            <a:xfrm>
              <a:off x="19383" y="-18717"/>
              <a:ext cx="167990" cy="206090"/>
            </a:xfrm>
            <a:prstGeom prst="rect">
              <a:avLst/>
            </a:prstGeom>
          </p:spPr>
          <p:txBody>
            <a:bodyPr anchor="ctr" rtlCol="false" tIns="50800" lIns="50800" bIns="50800" rIns="50800"/>
            <a:lstStyle/>
            <a:p>
              <a:pPr algn="ctr">
                <a:lnSpc>
                  <a:spcPts val="2871"/>
                </a:lnSpc>
              </a:pPr>
            </a:p>
          </p:txBody>
        </p:sp>
      </p:grpSp>
      <p:sp>
        <p:nvSpPr>
          <p:cNvPr name="Freeform 14" id="14"/>
          <p:cNvSpPr/>
          <p:nvPr/>
        </p:nvSpPr>
        <p:spPr>
          <a:xfrm flipH="false" flipV="false" rot="0">
            <a:off x="1522583" y="2591496"/>
            <a:ext cx="6237765" cy="6356958"/>
          </a:xfrm>
          <a:custGeom>
            <a:avLst/>
            <a:gdLst/>
            <a:ahLst/>
            <a:cxnLst/>
            <a:rect r="r" b="b" t="t" l="l"/>
            <a:pathLst>
              <a:path h="6356958" w="6237765">
                <a:moveTo>
                  <a:pt x="0" y="0"/>
                </a:moveTo>
                <a:lnTo>
                  <a:pt x="6237765" y="0"/>
                </a:lnTo>
                <a:lnTo>
                  <a:pt x="6237765" y="6356958"/>
                </a:lnTo>
                <a:lnTo>
                  <a:pt x="0" y="6356958"/>
                </a:lnTo>
                <a:lnTo>
                  <a:pt x="0" y="0"/>
                </a:lnTo>
                <a:close/>
              </a:path>
            </a:pathLst>
          </a:custGeom>
          <a:blipFill>
            <a:blip r:embed="rId4"/>
            <a:stretch>
              <a:fillRect l="0" t="0" r="0" b="0"/>
            </a:stretch>
          </a:blipFill>
        </p:spPr>
      </p:sp>
      <p:sp>
        <p:nvSpPr>
          <p:cNvPr name="Freeform 15" id="15"/>
          <p:cNvSpPr/>
          <p:nvPr/>
        </p:nvSpPr>
        <p:spPr>
          <a:xfrm flipH="false" flipV="false" rot="0">
            <a:off x="8757143" y="2591496"/>
            <a:ext cx="7889918" cy="6356958"/>
          </a:xfrm>
          <a:custGeom>
            <a:avLst/>
            <a:gdLst/>
            <a:ahLst/>
            <a:cxnLst/>
            <a:rect r="r" b="b" t="t" l="l"/>
            <a:pathLst>
              <a:path h="6356958" w="7889918">
                <a:moveTo>
                  <a:pt x="0" y="0"/>
                </a:moveTo>
                <a:lnTo>
                  <a:pt x="7889917" y="0"/>
                </a:lnTo>
                <a:lnTo>
                  <a:pt x="7889917" y="6356958"/>
                </a:lnTo>
                <a:lnTo>
                  <a:pt x="0" y="6356958"/>
                </a:lnTo>
                <a:lnTo>
                  <a:pt x="0" y="0"/>
                </a:lnTo>
                <a:close/>
              </a:path>
            </a:pathLst>
          </a:custGeom>
          <a:blipFill>
            <a:blip r:embed="rId5"/>
            <a:stretch>
              <a:fillRect l="0" t="0" r="0" b="0"/>
            </a:stretch>
          </a:blipFill>
        </p:spPr>
      </p:sp>
      <p:sp>
        <p:nvSpPr>
          <p:cNvPr name="TextBox 16" id="16"/>
          <p:cNvSpPr txBox="true"/>
          <p:nvPr/>
        </p:nvSpPr>
        <p:spPr>
          <a:xfrm rot="0">
            <a:off x="15762422" y="764137"/>
            <a:ext cx="1421291" cy="330200"/>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Montserrat Bold"/>
                <a:ea typeface="Montserrat Bold"/>
                <a:cs typeface="Montserrat Bold"/>
                <a:sym typeface="Montserrat Bold"/>
              </a:rPr>
              <a:t>Page 07</a:t>
            </a:r>
          </a:p>
        </p:txBody>
      </p:sp>
      <p:sp>
        <p:nvSpPr>
          <p:cNvPr name="TextBox 17" id="17"/>
          <p:cNvSpPr txBox="true"/>
          <p:nvPr/>
        </p:nvSpPr>
        <p:spPr>
          <a:xfrm rot="0">
            <a:off x="949763" y="740947"/>
            <a:ext cx="1761862" cy="37259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Montserrat Heavy"/>
                <a:ea typeface="Montserrat Heavy"/>
                <a:cs typeface="Montserrat Heavy"/>
                <a:sym typeface="Montserrat Heavy"/>
              </a:rPr>
              <a:t>Neural</a:t>
            </a:r>
          </a:p>
        </p:txBody>
      </p:sp>
      <p:sp>
        <p:nvSpPr>
          <p:cNvPr name="TextBox 18" id="18"/>
          <p:cNvSpPr txBox="true"/>
          <p:nvPr/>
        </p:nvSpPr>
        <p:spPr>
          <a:xfrm rot="0">
            <a:off x="2062637" y="740393"/>
            <a:ext cx="1761862" cy="37259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Montserrat"/>
                <a:ea typeface="Montserrat"/>
                <a:cs typeface="Montserrat"/>
                <a:sym typeface="Montserrat"/>
              </a:rPr>
              <a:t>Nexus</a:t>
            </a:r>
          </a:p>
        </p:txBody>
      </p:sp>
      <p:sp>
        <p:nvSpPr>
          <p:cNvPr name="TextBox 19" id="19"/>
          <p:cNvSpPr txBox="true"/>
          <p:nvPr/>
        </p:nvSpPr>
        <p:spPr>
          <a:xfrm rot="0">
            <a:off x="1078148" y="9216131"/>
            <a:ext cx="6110287" cy="347946"/>
          </a:xfrm>
          <a:prstGeom prst="rect">
            <a:avLst/>
          </a:prstGeom>
        </p:spPr>
        <p:txBody>
          <a:bodyPr anchor="t" rtlCol="false" tIns="0" lIns="0" bIns="0" rIns="0">
            <a:spAutoFit/>
          </a:bodyPr>
          <a:lstStyle/>
          <a:p>
            <a:pPr algn="ctr">
              <a:lnSpc>
                <a:spcPts val="2871"/>
              </a:lnSpc>
              <a:spcBef>
                <a:spcPct val="0"/>
              </a:spcBef>
            </a:pPr>
            <a:r>
              <a:rPr lang="en-US" sz="2051" spc="4">
                <a:solidFill>
                  <a:srgbClr val="FFFFFF"/>
                </a:solidFill>
                <a:latin typeface="Montserrat"/>
                <a:ea typeface="Montserrat"/>
                <a:cs typeface="Montserrat"/>
                <a:sym typeface="Montserrat"/>
              </a:rPr>
              <a:t>GPT`s answer</a:t>
            </a:r>
          </a:p>
        </p:txBody>
      </p:sp>
      <p:sp>
        <p:nvSpPr>
          <p:cNvPr name="TextBox 20" id="20"/>
          <p:cNvSpPr txBox="true"/>
          <p:nvPr/>
        </p:nvSpPr>
        <p:spPr>
          <a:xfrm rot="0">
            <a:off x="11132948" y="9220200"/>
            <a:ext cx="2295227" cy="347946"/>
          </a:xfrm>
          <a:prstGeom prst="rect">
            <a:avLst/>
          </a:prstGeom>
        </p:spPr>
        <p:txBody>
          <a:bodyPr anchor="t" rtlCol="false" tIns="0" lIns="0" bIns="0" rIns="0">
            <a:spAutoFit/>
          </a:bodyPr>
          <a:lstStyle/>
          <a:p>
            <a:pPr algn="ctr">
              <a:lnSpc>
                <a:spcPts val="2871"/>
              </a:lnSpc>
              <a:spcBef>
                <a:spcPct val="0"/>
              </a:spcBef>
            </a:pPr>
            <a:r>
              <a:rPr lang="en-US" sz="2051" spc="4">
                <a:solidFill>
                  <a:srgbClr val="FFFFFF"/>
                </a:solidFill>
                <a:latin typeface="Montserrat"/>
                <a:ea typeface="Montserrat"/>
                <a:cs typeface="Montserrat"/>
                <a:sym typeface="Montserrat"/>
              </a:rPr>
              <a:t>GEMINI`s answer</a:t>
            </a:r>
          </a:p>
        </p:txBody>
      </p:sp>
      <p:sp>
        <p:nvSpPr>
          <p:cNvPr name="TextBox 21" id="21"/>
          <p:cNvSpPr txBox="true"/>
          <p:nvPr/>
        </p:nvSpPr>
        <p:spPr>
          <a:xfrm rot="0">
            <a:off x="4641465" y="1945612"/>
            <a:ext cx="9762827" cy="397476"/>
          </a:xfrm>
          <a:prstGeom prst="rect">
            <a:avLst/>
          </a:prstGeom>
        </p:spPr>
        <p:txBody>
          <a:bodyPr anchor="t" rtlCol="false" tIns="0" lIns="0" bIns="0" rIns="0">
            <a:spAutoFit/>
          </a:bodyPr>
          <a:lstStyle/>
          <a:p>
            <a:pPr algn="l">
              <a:lnSpc>
                <a:spcPts val="3291"/>
              </a:lnSpc>
              <a:spcBef>
                <a:spcPct val="0"/>
              </a:spcBef>
            </a:pPr>
            <a:r>
              <a:rPr lang="en-US" sz="2351" spc="4">
                <a:solidFill>
                  <a:srgbClr val="FFFFFF"/>
                </a:solidFill>
                <a:latin typeface="Montserrat"/>
                <a:ea typeface="Montserrat"/>
                <a:cs typeface="Montserrat"/>
                <a:sym typeface="Montserrat"/>
              </a:rPr>
              <a:t>QUESTION = How much tax do i owe on my investment income ?</a:t>
            </a:r>
          </a:p>
        </p:txBody>
      </p:sp>
      <p:sp>
        <p:nvSpPr>
          <p:cNvPr name="TextBox 22" id="22"/>
          <p:cNvSpPr txBox="true"/>
          <p:nvPr/>
        </p:nvSpPr>
        <p:spPr>
          <a:xfrm rot="0">
            <a:off x="1028700" y="1139162"/>
            <a:ext cx="5400552" cy="854075"/>
          </a:xfrm>
          <a:prstGeom prst="rect">
            <a:avLst/>
          </a:prstGeom>
        </p:spPr>
        <p:txBody>
          <a:bodyPr anchor="t" rtlCol="false" tIns="0" lIns="0" bIns="0" rIns="0">
            <a:spAutoFit/>
          </a:bodyPr>
          <a:lstStyle/>
          <a:p>
            <a:pPr algn="just" marL="0" indent="0" lvl="0">
              <a:lnSpc>
                <a:spcPts val="7000"/>
              </a:lnSpc>
              <a:spcBef>
                <a:spcPct val="0"/>
              </a:spcBef>
            </a:pPr>
            <a:r>
              <a:rPr lang="en-US" sz="5000" spc="-305">
                <a:solidFill>
                  <a:srgbClr val="FFFFFF"/>
                </a:solidFill>
                <a:latin typeface="Montserrat"/>
                <a:ea typeface="Montserrat"/>
                <a:cs typeface="Montserrat"/>
                <a:sym typeface="Montserrat"/>
              </a:rPr>
              <a:t>Results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513352" y="667880"/>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18FF"/>
            </a:soli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false" rot="0">
            <a:off x="3243294" y="6446622"/>
            <a:ext cx="2796342" cy="2811678"/>
          </a:xfrm>
          <a:custGeom>
            <a:avLst/>
            <a:gdLst/>
            <a:ahLst/>
            <a:cxnLst/>
            <a:rect r="r" b="b" t="t" l="l"/>
            <a:pathLst>
              <a:path h="2811678" w="2796342">
                <a:moveTo>
                  <a:pt x="2796342" y="0"/>
                </a:moveTo>
                <a:lnTo>
                  <a:pt x="0" y="0"/>
                </a:lnTo>
                <a:lnTo>
                  <a:pt x="0" y="2811678"/>
                </a:lnTo>
                <a:lnTo>
                  <a:pt x="2796342" y="2811678"/>
                </a:lnTo>
                <a:lnTo>
                  <a:pt x="2796342" y="0"/>
                </a:lnTo>
                <a:close/>
              </a:path>
            </a:pathLst>
          </a:custGeom>
          <a:blipFill>
            <a:blip r:embed="rId2">
              <a:alphaModFix amt="28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545397" y="7127218"/>
            <a:ext cx="2796342" cy="2811678"/>
          </a:xfrm>
          <a:custGeom>
            <a:avLst/>
            <a:gdLst/>
            <a:ahLst/>
            <a:cxnLst/>
            <a:rect r="r" b="b" t="t" l="l"/>
            <a:pathLst>
              <a:path h="2811678" w="2796342">
                <a:moveTo>
                  <a:pt x="2796342" y="0"/>
                </a:moveTo>
                <a:lnTo>
                  <a:pt x="0" y="0"/>
                </a:lnTo>
                <a:lnTo>
                  <a:pt x="0" y="2811678"/>
                </a:lnTo>
                <a:lnTo>
                  <a:pt x="2796342" y="2811678"/>
                </a:lnTo>
                <a:lnTo>
                  <a:pt x="2796342" y="0"/>
                </a:lnTo>
                <a:close/>
              </a:path>
            </a:pathLst>
          </a:custGeom>
          <a:blipFill>
            <a:blip r:embed="rId2">
              <a:alphaModFix amt="28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1339134" y="778493"/>
            <a:ext cx="2228153" cy="2240373"/>
          </a:xfrm>
          <a:custGeom>
            <a:avLst/>
            <a:gdLst/>
            <a:ahLst/>
            <a:cxnLst/>
            <a:rect r="r" b="b" t="t" l="l"/>
            <a:pathLst>
              <a:path h="2240373" w="2228153">
                <a:moveTo>
                  <a:pt x="2228153" y="0"/>
                </a:moveTo>
                <a:lnTo>
                  <a:pt x="0" y="0"/>
                </a:lnTo>
                <a:lnTo>
                  <a:pt x="0" y="2240374"/>
                </a:lnTo>
                <a:lnTo>
                  <a:pt x="2228153" y="2240374"/>
                </a:lnTo>
                <a:lnTo>
                  <a:pt x="2228153" y="0"/>
                </a:lnTo>
                <a:close/>
              </a:path>
            </a:pathLst>
          </a:custGeom>
          <a:blipFill>
            <a:blip r:embed="rId2">
              <a:alphaModFix amt="47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619943" y="2709906"/>
            <a:ext cx="7805871" cy="6634990"/>
          </a:xfrm>
          <a:custGeom>
            <a:avLst/>
            <a:gdLst/>
            <a:ahLst/>
            <a:cxnLst/>
            <a:rect r="r" b="b" t="t" l="l"/>
            <a:pathLst>
              <a:path h="6634990" w="7805871">
                <a:moveTo>
                  <a:pt x="0" y="0"/>
                </a:moveTo>
                <a:lnTo>
                  <a:pt x="7805871" y="0"/>
                </a:lnTo>
                <a:lnTo>
                  <a:pt x="7805871" y="6634990"/>
                </a:lnTo>
                <a:lnTo>
                  <a:pt x="0" y="6634990"/>
                </a:lnTo>
                <a:lnTo>
                  <a:pt x="0" y="0"/>
                </a:lnTo>
                <a:close/>
              </a:path>
            </a:pathLst>
          </a:custGeom>
          <a:blipFill>
            <a:blip r:embed="rId4"/>
            <a:stretch>
              <a:fillRect l="0" t="0" r="0" b="0"/>
            </a:stretch>
          </a:blipFill>
        </p:spPr>
      </p:sp>
      <p:sp>
        <p:nvSpPr>
          <p:cNvPr name="TextBox 9" id="9"/>
          <p:cNvSpPr txBox="true"/>
          <p:nvPr/>
        </p:nvSpPr>
        <p:spPr>
          <a:xfrm rot="0">
            <a:off x="15762422" y="764137"/>
            <a:ext cx="1421291" cy="330200"/>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Montserrat Bold"/>
                <a:ea typeface="Montserrat Bold"/>
                <a:cs typeface="Montserrat Bold"/>
                <a:sym typeface="Montserrat Bold"/>
              </a:rPr>
              <a:t>Page 08</a:t>
            </a:r>
          </a:p>
        </p:txBody>
      </p:sp>
      <p:sp>
        <p:nvSpPr>
          <p:cNvPr name="TextBox 10" id="10"/>
          <p:cNvSpPr txBox="true"/>
          <p:nvPr/>
        </p:nvSpPr>
        <p:spPr>
          <a:xfrm rot="0">
            <a:off x="949763" y="740947"/>
            <a:ext cx="1761862" cy="37259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Montserrat Heavy"/>
                <a:ea typeface="Montserrat Heavy"/>
                <a:cs typeface="Montserrat Heavy"/>
                <a:sym typeface="Montserrat Heavy"/>
              </a:rPr>
              <a:t>Neural</a:t>
            </a:r>
          </a:p>
        </p:txBody>
      </p:sp>
      <p:sp>
        <p:nvSpPr>
          <p:cNvPr name="TextBox 11" id="11"/>
          <p:cNvSpPr txBox="true"/>
          <p:nvPr/>
        </p:nvSpPr>
        <p:spPr>
          <a:xfrm rot="0">
            <a:off x="2062637" y="740393"/>
            <a:ext cx="1761862" cy="37259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Montserrat"/>
                <a:ea typeface="Montserrat"/>
                <a:cs typeface="Montserrat"/>
                <a:sym typeface="Montserrat"/>
              </a:rPr>
              <a:t>Nexus</a:t>
            </a:r>
          </a:p>
        </p:txBody>
      </p:sp>
      <p:sp>
        <p:nvSpPr>
          <p:cNvPr name="TextBox 12" id="12"/>
          <p:cNvSpPr txBox="true"/>
          <p:nvPr/>
        </p:nvSpPr>
        <p:spPr>
          <a:xfrm rot="0">
            <a:off x="7972842" y="9508401"/>
            <a:ext cx="2342317" cy="430496"/>
          </a:xfrm>
          <a:prstGeom prst="rect">
            <a:avLst/>
          </a:prstGeom>
        </p:spPr>
        <p:txBody>
          <a:bodyPr anchor="t" rtlCol="false" tIns="0" lIns="0" bIns="0" rIns="0">
            <a:spAutoFit/>
          </a:bodyPr>
          <a:lstStyle/>
          <a:p>
            <a:pPr algn="ctr">
              <a:lnSpc>
                <a:spcPts val="3571"/>
              </a:lnSpc>
              <a:spcBef>
                <a:spcPct val="0"/>
              </a:spcBef>
            </a:pPr>
            <a:r>
              <a:rPr lang="en-US" sz="2551" spc="5">
                <a:solidFill>
                  <a:srgbClr val="FFFFFF"/>
                </a:solidFill>
                <a:latin typeface="Montserrat"/>
                <a:ea typeface="Montserrat"/>
                <a:cs typeface="Montserrat"/>
                <a:sym typeface="Montserrat"/>
              </a:rPr>
              <a:t>SME`s answer</a:t>
            </a:r>
          </a:p>
        </p:txBody>
      </p:sp>
      <p:sp>
        <p:nvSpPr>
          <p:cNvPr name="TextBox 13" id="13"/>
          <p:cNvSpPr txBox="true"/>
          <p:nvPr/>
        </p:nvSpPr>
        <p:spPr>
          <a:xfrm rot="0">
            <a:off x="4641465" y="1945612"/>
            <a:ext cx="9762827" cy="397476"/>
          </a:xfrm>
          <a:prstGeom prst="rect">
            <a:avLst/>
          </a:prstGeom>
        </p:spPr>
        <p:txBody>
          <a:bodyPr anchor="t" rtlCol="false" tIns="0" lIns="0" bIns="0" rIns="0">
            <a:spAutoFit/>
          </a:bodyPr>
          <a:lstStyle/>
          <a:p>
            <a:pPr algn="l">
              <a:lnSpc>
                <a:spcPts val="3291"/>
              </a:lnSpc>
              <a:spcBef>
                <a:spcPct val="0"/>
              </a:spcBef>
            </a:pPr>
            <a:r>
              <a:rPr lang="en-US" sz="2351" spc="4">
                <a:solidFill>
                  <a:srgbClr val="FFFFFF"/>
                </a:solidFill>
                <a:latin typeface="Montserrat"/>
                <a:ea typeface="Montserrat"/>
                <a:cs typeface="Montserrat"/>
                <a:sym typeface="Montserrat"/>
              </a:rPr>
              <a:t>QUESTION = How much tax do i owe on my investment income ?</a:t>
            </a:r>
          </a:p>
        </p:txBody>
      </p:sp>
      <p:sp>
        <p:nvSpPr>
          <p:cNvPr name="TextBox 14" id="14"/>
          <p:cNvSpPr txBox="true"/>
          <p:nvPr/>
        </p:nvSpPr>
        <p:spPr>
          <a:xfrm rot="0">
            <a:off x="1028700" y="1139162"/>
            <a:ext cx="5400552" cy="854075"/>
          </a:xfrm>
          <a:prstGeom prst="rect">
            <a:avLst/>
          </a:prstGeom>
        </p:spPr>
        <p:txBody>
          <a:bodyPr anchor="t" rtlCol="false" tIns="0" lIns="0" bIns="0" rIns="0">
            <a:spAutoFit/>
          </a:bodyPr>
          <a:lstStyle/>
          <a:p>
            <a:pPr algn="just" marL="0" indent="0" lvl="0">
              <a:lnSpc>
                <a:spcPts val="7000"/>
              </a:lnSpc>
              <a:spcBef>
                <a:spcPct val="0"/>
              </a:spcBef>
            </a:pPr>
            <a:r>
              <a:rPr lang="en-US" sz="5000" spc="-305">
                <a:solidFill>
                  <a:srgbClr val="FFFFFF"/>
                </a:solidFill>
                <a:latin typeface="Montserrat"/>
                <a:ea typeface="Montserrat"/>
                <a:cs typeface="Montserrat"/>
                <a:sym typeface="Montserrat"/>
              </a:rPr>
              <a:t>Results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513352" y="667880"/>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18FF"/>
            </a:soli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false" rot="0">
            <a:off x="3243294" y="6446622"/>
            <a:ext cx="2796342" cy="2811678"/>
          </a:xfrm>
          <a:custGeom>
            <a:avLst/>
            <a:gdLst/>
            <a:ahLst/>
            <a:cxnLst/>
            <a:rect r="r" b="b" t="t" l="l"/>
            <a:pathLst>
              <a:path h="2811678" w="2796342">
                <a:moveTo>
                  <a:pt x="2796342" y="0"/>
                </a:moveTo>
                <a:lnTo>
                  <a:pt x="0" y="0"/>
                </a:lnTo>
                <a:lnTo>
                  <a:pt x="0" y="2811678"/>
                </a:lnTo>
                <a:lnTo>
                  <a:pt x="2796342" y="2811678"/>
                </a:lnTo>
                <a:lnTo>
                  <a:pt x="2796342" y="0"/>
                </a:lnTo>
                <a:close/>
              </a:path>
            </a:pathLst>
          </a:custGeom>
          <a:blipFill>
            <a:blip r:embed="rId2">
              <a:alphaModFix amt="28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545397" y="7127218"/>
            <a:ext cx="2796342" cy="2811678"/>
          </a:xfrm>
          <a:custGeom>
            <a:avLst/>
            <a:gdLst/>
            <a:ahLst/>
            <a:cxnLst/>
            <a:rect r="r" b="b" t="t" l="l"/>
            <a:pathLst>
              <a:path h="2811678" w="2796342">
                <a:moveTo>
                  <a:pt x="2796342" y="0"/>
                </a:moveTo>
                <a:lnTo>
                  <a:pt x="0" y="0"/>
                </a:lnTo>
                <a:lnTo>
                  <a:pt x="0" y="2811678"/>
                </a:lnTo>
                <a:lnTo>
                  <a:pt x="2796342" y="2811678"/>
                </a:lnTo>
                <a:lnTo>
                  <a:pt x="2796342" y="0"/>
                </a:lnTo>
                <a:close/>
              </a:path>
            </a:pathLst>
          </a:custGeom>
          <a:blipFill>
            <a:blip r:embed="rId2">
              <a:alphaModFix amt="28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1339134" y="778493"/>
            <a:ext cx="2228153" cy="2240373"/>
          </a:xfrm>
          <a:custGeom>
            <a:avLst/>
            <a:gdLst/>
            <a:ahLst/>
            <a:cxnLst/>
            <a:rect r="r" b="b" t="t" l="l"/>
            <a:pathLst>
              <a:path h="2240373" w="2228153">
                <a:moveTo>
                  <a:pt x="2228153" y="0"/>
                </a:moveTo>
                <a:lnTo>
                  <a:pt x="0" y="0"/>
                </a:lnTo>
                <a:lnTo>
                  <a:pt x="0" y="2240374"/>
                </a:lnTo>
                <a:lnTo>
                  <a:pt x="2228153" y="2240374"/>
                </a:lnTo>
                <a:lnTo>
                  <a:pt x="2228153" y="0"/>
                </a:lnTo>
                <a:close/>
              </a:path>
            </a:pathLst>
          </a:custGeom>
          <a:blipFill>
            <a:blip r:embed="rId2">
              <a:alphaModFix amt="47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2062637" y="7659349"/>
            <a:ext cx="193112" cy="193112"/>
            <a:chOff x="0" y="0"/>
            <a:chExt cx="206757" cy="206757"/>
          </a:xfrm>
        </p:grpSpPr>
        <p:sp>
          <p:nvSpPr>
            <p:cNvPr name="Freeform 9" id="9"/>
            <p:cNvSpPr/>
            <p:nvPr/>
          </p:nvSpPr>
          <p:spPr>
            <a:xfrm flipH="false" flipV="false" rot="0">
              <a:off x="0" y="0"/>
              <a:ext cx="206757" cy="206757"/>
            </a:xfrm>
            <a:custGeom>
              <a:avLst/>
              <a:gdLst/>
              <a:ahLst/>
              <a:cxnLst/>
              <a:rect r="r" b="b" t="t" l="l"/>
              <a:pathLst>
                <a:path h="206757" w="206757">
                  <a:moveTo>
                    <a:pt x="103379" y="0"/>
                  </a:moveTo>
                  <a:cubicBezTo>
                    <a:pt x="46284" y="0"/>
                    <a:pt x="0" y="46284"/>
                    <a:pt x="0" y="103379"/>
                  </a:cubicBezTo>
                  <a:cubicBezTo>
                    <a:pt x="0" y="160473"/>
                    <a:pt x="46284" y="206757"/>
                    <a:pt x="103379" y="206757"/>
                  </a:cubicBezTo>
                  <a:cubicBezTo>
                    <a:pt x="160473" y="206757"/>
                    <a:pt x="206757" y="160473"/>
                    <a:pt x="206757" y="103379"/>
                  </a:cubicBezTo>
                  <a:cubicBezTo>
                    <a:pt x="206757" y="46284"/>
                    <a:pt x="160473" y="0"/>
                    <a:pt x="103379" y="0"/>
                  </a:cubicBezTo>
                  <a:close/>
                </a:path>
              </a:pathLst>
            </a:custGeom>
            <a:solidFill>
              <a:srgbClr val="0018FF"/>
            </a:solidFill>
          </p:spPr>
        </p:sp>
        <p:sp>
          <p:nvSpPr>
            <p:cNvPr name="TextBox 10" id="10"/>
            <p:cNvSpPr txBox="true"/>
            <p:nvPr/>
          </p:nvSpPr>
          <p:spPr>
            <a:xfrm>
              <a:off x="19383" y="-18717"/>
              <a:ext cx="167990" cy="206090"/>
            </a:xfrm>
            <a:prstGeom prst="rect">
              <a:avLst/>
            </a:prstGeom>
          </p:spPr>
          <p:txBody>
            <a:bodyPr anchor="ctr" rtlCol="false" tIns="50800" lIns="50800" bIns="50800" rIns="50800"/>
            <a:lstStyle/>
            <a:p>
              <a:pPr algn="ctr">
                <a:lnSpc>
                  <a:spcPts val="2871"/>
                </a:lnSpc>
              </a:pPr>
            </a:p>
          </p:txBody>
        </p:sp>
      </p:grpSp>
      <p:grpSp>
        <p:nvGrpSpPr>
          <p:cNvPr name="Group 11" id="11"/>
          <p:cNvGrpSpPr/>
          <p:nvPr/>
        </p:nvGrpSpPr>
        <p:grpSpPr>
          <a:xfrm rot="0">
            <a:off x="7411267" y="7657724"/>
            <a:ext cx="193112" cy="193112"/>
            <a:chOff x="0" y="0"/>
            <a:chExt cx="206757" cy="206757"/>
          </a:xfrm>
        </p:grpSpPr>
        <p:sp>
          <p:nvSpPr>
            <p:cNvPr name="Freeform 12" id="12"/>
            <p:cNvSpPr/>
            <p:nvPr/>
          </p:nvSpPr>
          <p:spPr>
            <a:xfrm flipH="false" flipV="false" rot="0">
              <a:off x="0" y="0"/>
              <a:ext cx="206757" cy="206757"/>
            </a:xfrm>
            <a:custGeom>
              <a:avLst/>
              <a:gdLst/>
              <a:ahLst/>
              <a:cxnLst/>
              <a:rect r="r" b="b" t="t" l="l"/>
              <a:pathLst>
                <a:path h="206757" w="206757">
                  <a:moveTo>
                    <a:pt x="103379" y="0"/>
                  </a:moveTo>
                  <a:cubicBezTo>
                    <a:pt x="46284" y="0"/>
                    <a:pt x="0" y="46284"/>
                    <a:pt x="0" y="103379"/>
                  </a:cubicBezTo>
                  <a:cubicBezTo>
                    <a:pt x="0" y="160473"/>
                    <a:pt x="46284" y="206757"/>
                    <a:pt x="103379" y="206757"/>
                  </a:cubicBezTo>
                  <a:cubicBezTo>
                    <a:pt x="160473" y="206757"/>
                    <a:pt x="206757" y="160473"/>
                    <a:pt x="206757" y="103379"/>
                  </a:cubicBezTo>
                  <a:cubicBezTo>
                    <a:pt x="206757" y="46284"/>
                    <a:pt x="160473" y="0"/>
                    <a:pt x="103379" y="0"/>
                  </a:cubicBezTo>
                  <a:close/>
                </a:path>
              </a:pathLst>
            </a:custGeom>
            <a:solidFill>
              <a:srgbClr val="0018FF"/>
            </a:solidFill>
          </p:spPr>
        </p:sp>
        <p:sp>
          <p:nvSpPr>
            <p:cNvPr name="TextBox 13" id="13"/>
            <p:cNvSpPr txBox="true"/>
            <p:nvPr/>
          </p:nvSpPr>
          <p:spPr>
            <a:xfrm>
              <a:off x="19383" y="-18717"/>
              <a:ext cx="167990" cy="206090"/>
            </a:xfrm>
            <a:prstGeom prst="rect">
              <a:avLst/>
            </a:prstGeom>
          </p:spPr>
          <p:txBody>
            <a:bodyPr anchor="ctr" rtlCol="false" tIns="50800" lIns="50800" bIns="50800" rIns="50800"/>
            <a:lstStyle/>
            <a:p>
              <a:pPr algn="ctr">
                <a:lnSpc>
                  <a:spcPts val="2871"/>
                </a:lnSpc>
              </a:pPr>
            </a:p>
          </p:txBody>
        </p:sp>
      </p:grpSp>
      <p:sp>
        <p:nvSpPr>
          <p:cNvPr name="Freeform 14" id="14"/>
          <p:cNvSpPr/>
          <p:nvPr/>
        </p:nvSpPr>
        <p:spPr>
          <a:xfrm flipH="false" flipV="false" rot="0">
            <a:off x="1028700" y="2703332"/>
            <a:ext cx="6382567" cy="6406592"/>
          </a:xfrm>
          <a:custGeom>
            <a:avLst/>
            <a:gdLst/>
            <a:ahLst/>
            <a:cxnLst/>
            <a:rect r="r" b="b" t="t" l="l"/>
            <a:pathLst>
              <a:path h="6406592" w="6382567">
                <a:moveTo>
                  <a:pt x="0" y="0"/>
                </a:moveTo>
                <a:lnTo>
                  <a:pt x="6382567" y="0"/>
                </a:lnTo>
                <a:lnTo>
                  <a:pt x="6382567" y="6406592"/>
                </a:lnTo>
                <a:lnTo>
                  <a:pt x="0" y="6406592"/>
                </a:lnTo>
                <a:lnTo>
                  <a:pt x="0" y="0"/>
                </a:lnTo>
                <a:close/>
              </a:path>
            </a:pathLst>
          </a:custGeom>
          <a:blipFill>
            <a:blip r:embed="rId4"/>
            <a:stretch>
              <a:fillRect l="0" t="0" r="0" b="0"/>
            </a:stretch>
          </a:blipFill>
        </p:spPr>
      </p:sp>
      <p:sp>
        <p:nvSpPr>
          <p:cNvPr name="Freeform 15" id="15"/>
          <p:cNvSpPr/>
          <p:nvPr/>
        </p:nvSpPr>
        <p:spPr>
          <a:xfrm flipH="false" flipV="false" rot="0">
            <a:off x="8812641" y="2635393"/>
            <a:ext cx="6949780" cy="6618838"/>
          </a:xfrm>
          <a:custGeom>
            <a:avLst/>
            <a:gdLst/>
            <a:ahLst/>
            <a:cxnLst/>
            <a:rect r="r" b="b" t="t" l="l"/>
            <a:pathLst>
              <a:path h="6618838" w="6949780">
                <a:moveTo>
                  <a:pt x="0" y="0"/>
                </a:moveTo>
                <a:lnTo>
                  <a:pt x="6949781" y="0"/>
                </a:lnTo>
                <a:lnTo>
                  <a:pt x="6949781" y="6618838"/>
                </a:lnTo>
                <a:lnTo>
                  <a:pt x="0" y="6618838"/>
                </a:lnTo>
                <a:lnTo>
                  <a:pt x="0" y="0"/>
                </a:lnTo>
                <a:close/>
              </a:path>
            </a:pathLst>
          </a:custGeom>
          <a:blipFill>
            <a:blip r:embed="rId5"/>
            <a:stretch>
              <a:fillRect l="0" t="0" r="0" b="0"/>
            </a:stretch>
          </a:blipFill>
        </p:spPr>
      </p:sp>
      <p:sp>
        <p:nvSpPr>
          <p:cNvPr name="TextBox 16" id="16"/>
          <p:cNvSpPr txBox="true"/>
          <p:nvPr/>
        </p:nvSpPr>
        <p:spPr>
          <a:xfrm rot="0">
            <a:off x="15762422" y="764137"/>
            <a:ext cx="1421291" cy="330200"/>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Montserrat Bold"/>
                <a:ea typeface="Montserrat Bold"/>
                <a:cs typeface="Montserrat Bold"/>
                <a:sym typeface="Montserrat Bold"/>
              </a:rPr>
              <a:t>Page 09</a:t>
            </a:r>
          </a:p>
        </p:txBody>
      </p:sp>
      <p:sp>
        <p:nvSpPr>
          <p:cNvPr name="TextBox 17" id="17"/>
          <p:cNvSpPr txBox="true"/>
          <p:nvPr/>
        </p:nvSpPr>
        <p:spPr>
          <a:xfrm rot="0">
            <a:off x="949763" y="740947"/>
            <a:ext cx="1761862" cy="37259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Montserrat Heavy"/>
                <a:ea typeface="Montserrat Heavy"/>
                <a:cs typeface="Montserrat Heavy"/>
                <a:sym typeface="Montserrat Heavy"/>
              </a:rPr>
              <a:t>Neural</a:t>
            </a:r>
          </a:p>
        </p:txBody>
      </p:sp>
      <p:sp>
        <p:nvSpPr>
          <p:cNvPr name="TextBox 18" id="18"/>
          <p:cNvSpPr txBox="true"/>
          <p:nvPr/>
        </p:nvSpPr>
        <p:spPr>
          <a:xfrm rot="0">
            <a:off x="2062637" y="740393"/>
            <a:ext cx="1761862" cy="37259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Montserrat"/>
                <a:ea typeface="Montserrat"/>
                <a:cs typeface="Montserrat"/>
                <a:sym typeface="Montserrat"/>
              </a:rPr>
              <a:t>Nexus</a:t>
            </a:r>
          </a:p>
        </p:txBody>
      </p:sp>
      <p:sp>
        <p:nvSpPr>
          <p:cNvPr name="TextBox 19" id="19"/>
          <p:cNvSpPr txBox="true"/>
          <p:nvPr/>
        </p:nvSpPr>
        <p:spPr>
          <a:xfrm rot="0">
            <a:off x="1078148" y="9216131"/>
            <a:ext cx="6110287" cy="347946"/>
          </a:xfrm>
          <a:prstGeom prst="rect">
            <a:avLst/>
          </a:prstGeom>
        </p:spPr>
        <p:txBody>
          <a:bodyPr anchor="t" rtlCol="false" tIns="0" lIns="0" bIns="0" rIns="0">
            <a:spAutoFit/>
          </a:bodyPr>
          <a:lstStyle/>
          <a:p>
            <a:pPr algn="ctr">
              <a:lnSpc>
                <a:spcPts val="2871"/>
              </a:lnSpc>
              <a:spcBef>
                <a:spcPct val="0"/>
              </a:spcBef>
            </a:pPr>
            <a:r>
              <a:rPr lang="en-US" sz="2051" spc="4">
                <a:solidFill>
                  <a:srgbClr val="FFFFFF"/>
                </a:solidFill>
                <a:latin typeface="Montserrat"/>
                <a:ea typeface="Montserrat"/>
                <a:cs typeface="Montserrat"/>
                <a:sym typeface="Montserrat"/>
              </a:rPr>
              <a:t>GPT`s answer</a:t>
            </a:r>
          </a:p>
        </p:txBody>
      </p:sp>
      <p:sp>
        <p:nvSpPr>
          <p:cNvPr name="TextBox 20" id="20"/>
          <p:cNvSpPr txBox="true"/>
          <p:nvPr/>
        </p:nvSpPr>
        <p:spPr>
          <a:xfrm rot="0">
            <a:off x="11327665" y="9371054"/>
            <a:ext cx="1919734" cy="347946"/>
          </a:xfrm>
          <a:prstGeom prst="rect">
            <a:avLst/>
          </a:prstGeom>
        </p:spPr>
        <p:txBody>
          <a:bodyPr anchor="t" rtlCol="false" tIns="0" lIns="0" bIns="0" rIns="0">
            <a:spAutoFit/>
          </a:bodyPr>
          <a:lstStyle/>
          <a:p>
            <a:pPr algn="ctr">
              <a:lnSpc>
                <a:spcPts val="2871"/>
              </a:lnSpc>
              <a:spcBef>
                <a:spcPct val="0"/>
              </a:spcBef>
            </a:pPr>
            <a:r>
              <a:rPr lang="en-US" sz="2051" spc="4">
                <a:solidFill>
                  <a:srgbClr val="FFFFFF"/>
                </a:solidFill>
                <a:latin typeface="Montserrat"/>
                <a:ea typeface="Montserrat"/>
                <a:cs typeface="Montserrat"/>
                <a:sym typeface="Montserrat"/>
              </a:rPr>
              <a:t>SME ‘ s answer</a:t>
            </a:r>
          </a:p>
        </p:txBody>
      </p:sp>
      <p:sp>
        <p:nvSpPr>
          <p:cNvPr name="TextBox 21" id="21"/>
          <p:cNvSpPr txBox="true"/>
          <p:nvPr/>
        </p:nvSpPr>
        <p:spPr>
          <a:xfrm rot="0">
            <a:off x="3728976" y="1361112"/>
            <a:ext cx="12715955" cy="1216626"/>
          </a:xfrm>
          <a:prstGeom prst="rect">
            <a:avLst/>
          </a:prstGeom>
        </p:spPr>
        <p:txBody>
          <a:bodyPr anchor="t" rtlCol="false" tIns="0" lIns="0" bIns="0" rIns="0">
            <a:spAutoFit/>
          </a:bodyPr>
          <a:lstStyle/>
          <a:p>
            <a:pPr algn="l">
              <a:lnSpc>
                <a:spcPts val="3291"/>
              </a:lnSpc>
              <a:spcBef>
                <a:spcPct val="0"/>
              </a:spcBef>
            </a:pPr>
            <a:r>
              <a:rPr lang="en-US" sz="2351" spc="4">
                <a:solidFill>
                  <a:srgbClr val="FF3131"/>
                </a:solidFill>
                <a:latin typeface="Montserrat"/>
                <a:ea typeface="Montserrat"/>
                <a:cs typeface="Montserrat"/>
                <a:sym typeface="Montserrat"/>
              </a:rPr>
              <a:t>Ambiguous </a:t>
            </a:r>
            <a:r>
              <a:rPr lang="en-US" sz="2351" spc="4">
                <a:solidFill>
                  <a:srgbClr val="FFFFFF"/>
                </a:solidFill>
                <a:latin typeface="Montserrat"/>
                <a:ea typeface="Montserrat"/>
                <a:cs typeface="Montserrat"/>
                <a:sym typeface="Montserrat"/>
              </a:rPr>
              <a:t>QUESTION = Im solo living person and i travel here and there and i also earn few earning 30k$ yearly and i had to do many expense like rent, grocery, how much tax i need to pay</a:t>
            </a:r>
          </a:p>
        </p:txBody>
      </p:sp>
      <p:sp>
        <p:nvSpPr>
          <p:cNvPr name="TextBox 22" id="22"/>
          <p:cNvSpPr txBox="true"/>
          <p:nvPr/>
        </p:nvSpPr>
        <p:spPr>
          <a:xfrm rot="0">
            <a:off x="1028700" y="1139162"/>
            <a:ext cx="5400552" cy="854075"/>
          </a:xfrm>
          <a:prstGeom prst="rect">
            <a:avLst/>
          </a:prstGeom>
        </p:spPr>
        <p:txBody>
          <a:bodyPr anchor="t" rtlCol="false" tIns="0" lIns="0" bIns="0" rIns="0">
            <a:spAutoFit/>
          </a:bodyPr>
          <a:lstStyle/>
          <a:p>
            <a:pPr algn="just" marL="0" indent="0" lvl="0">
              <a:lnSpc>
                <a:spcPts val="7000"/>
              </a:lnSpc>
              <a:spcBef>
                <a:spcPct val="0"/>
              </a:spcBef>
            </a:pPr>
            <a:r>
              <a:rPr lang="en-US" sz="5000" spc="-305">
                <a:solidFill>
                  <a:srgbClr val="FFFFFF"/>
                </a:solidFill>
                <a:latin typeface="Montserrat"/>
                <a:ea typeface="Montserrat"/>
                <a:cs typeface="Montserrat"/>
                <a:sym typeface="Montserrat"/>
              </a:rPr>
              <a:t>Results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513352" y="667880"/>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18FF"/>
            </a:soli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false" rot="0">
            <a:off x="3243294" y="6446622"/>
            <a:ext cx="2796342" cy="2811678"/>
          </a:xfrm>
          <a:custGeom>
            <a:avLst/>
            <a:gdLst/>
            <a:ahLst/>
            <a:cxnLst/>
            <a:rect r="r" b="b" t="t" l="l"/>
            <a:pathLst>
              <a:path h="2811678" w="2796342">
                <a:moveTo>
                  <a:pt x="2796342" y="0"/>
                </a:moveTo>
                <a:lnTo>
                  <a:pt x="0" y="0"/>
                </a:lnTo>
                <a:lnTo>
                  <a:pt x="0" y="2811678"/>
                </a:lnTo>
                <a:lnTo>
                  <a:pt x="2796342" y="2811678"/>
                </a:lnTo>
                <a:lnTo>
                  <a:pt x="2796342" y="0"/>
                </a:lnTo>
                <a:close/>
              </a:path>
            </a:pathLst>
          </a:custGeom>
          <a:blipFill>
            <a:blip r:embed="rId2">
              <a:alphaModFix amt="28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545397" y="7127218"/>
            <a:ext cx="2796342" cy="2811678"/>
          </a:xfrm>
          <a:custGeom>
            <a:avLst/>
            <a:gdLst/>
            <a:ahLst/>
            <a:cxnLst/>
            <a:rect r="r" b="b" t="t" l="l"/>
            <a:pathLst>
              <a:path h="2811678" w="2796342">
                <a:moveTo>
                  <a:pt x="2796342" y="0"/>
                </a:moveTo>
                <a:lnTo>
                  <a:pt x="0" y="0"/>
                </a:lnTo>
                <a:lnTo>
                  <a:pt x="0" y="2811678"/>
                </a:lnTo>
                <a:lnTo>
                  <a:pt x="2796342" y="2811678"/>
                </a:lnTo>
                <a:lnTo>
                  <a:pt x="2796342" y="0"/>
                </a:lnTo>
                <a:close/>
              </a:path>
            </a:pathLst>
          </a:custGeom>
          <a:blipFill>
            <a:blip r:embed="rId2">
              <a:alphaModFix amt="28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1339134" y="778493"/>
            <a:ext cx="2228153" cy="2240373"/>
          </a:xfrm>
          <a:custGeom>
            <a:avLst/>
            <a:gdLst/>
            <a:ahLst/>
            <a:cxnLst/>
            <a:rect r="r" b="b" t="t" l="l"/>
            <a:pathLst>
              <a:path h="2240373" w="2228153">
                <a:moveTo>
                  <a:pt x="2228153" y="0"/>
                </a:moveTo>
                <a:lnTo>
                  <a:pt x="0" y="0"/>
                </a:lnTo>
                <a:lnTo>
                  <a:pt x="0" y="2240374"/>
                </a:lnTo>
                <a:lnTo>
                  <a:pt x="2228153" y="2240374"/>
                </a:lnTo>
                <a:lnTo>
                  <a:pt x="2228153" y="0"/>
                </a:lnTo>
                <a:close/>
              </a:path>
            </a:pathLst>
          </a:custGeom>
          <a:blipFill>
            <a:blip r:embed="rId2">
              <a:alphaModFix amt="47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2062637" y="7659349"/>
            <a:ext cx="193112" cy="193112"/>
            <a:chOff x="0" y="0"/>
            <a:chExt cx="206757" cy="206757"/>
          </a:xfrm>
        </p:grpSpPr>
        <p:sp>
          <p:nvSpPr>
            <p:cNvPr name="Freeform 9" id="9"/>
            <p:cNvSpPr/>
            <p:nvPr/>
          </p:nvSpPr>
          <p:spPr>
            <a:xfrm flipH="false" flipV="false" rot="0">
              <a:off x="0" y="0"/>
              <a:ext cx="206757" cy="206757"/>
            </a:xfrm>
            <a:custGeom>
              <a:avLst/>
              <a:gdLst/>
              <a:ahLst/>
              <a:cxnLst/>
              <a:rect r="r" b="b" t="t" l="l"/>
              <a:pathLst>
                <a:path h="206757" w="206757">
                  <a:moveTo>
                    <a:pt x="103379" y="0"/>
                  </a:moveTo>
                  <a:cubicBezTo>
                    <a:pt x="46284" y="0"/>
                    <a:pt x="0" y="46284"/>
                    <a:pt x="0" y="103379"/>
                  </a:cubicBezTo>
                  <a:cubicBezTo>
                    <a:pt x="0" y="160473"/>
                    <a:pt x="46284" y="206757"/>
                    <a:pt x="103379" y="206757"/>
                  </a:cubicBezTo>
                  <a:cubicBezTo>
                    <a:pt x="160473" y="206757"/>
                    <a:pt x="206757" y="160473"/>
                    <a:pt x="206757" y="103379"/>
                  </a:cubicBezTo>
                  <a:cubicBezTo>
                    <a:pt x="206757" y="46284"/>
                    <a:pt x="160473" y="0"/>
                    <a:pt x="103379" y="0"/>
                  </a:cubicBezTo>
                  <a:close/>
                </a:path>
              </a:pathLst>
            </a:custGeom>
            <a:solidFill>
              <a:srgbClr val="0018FF"/>
            </a:solidFill>
          </p:spPr>
        </p:sp>
        <p:sp>
          <p:nvSpPr>
            <p:cNvPr name="TextBox 10" id="10"/>
            <p:cNvSpPr txBox="true"/>
            <p:nvPr/>
          </p:nvSpPr>
          <p:spPr>
            <a:xfrm>
              <a:off x="19383" y="-18717"/>
              <a:ext cx="167990" cy="206090"/>
            </a:xfrm>
            <a:prstGeom prst="rect">
              <a:avLst/>
            </a:prstGeom>
          </p:spPr>
          <p:txBody>
            <a:bodyPr anchor="ctr" rtlCol="false" tIns="50800" lIns="50800" bIns="50800" rIns="50800"/>
            <a:lstStyle/>
            <a:p>
              <a:pPr algn="ctr">
                <a:lnSpc>
                  <a:spcPts val="2871"/>
                </a:lnSpc>
              </a:pPr>
            </a:p>
          </p:txBody>
        </p:sp>
      </p:grpSp>
      <p:grpSp>
        <p:nvGrpSpPr>
          <p:cNvPr name="Group 11" id="11"/>
          <p:cNvGrpSpPr/>
          <p:nvPr/>
        </p:nvGrpSpPr>
        <p:grpSpPr>
          <a:xfrm rot="0">
            <a:off x="7411267" y="7657724"/>
            <a:ext cx="193112" cy="193112"/>
            <a:chOff x="0" y="0"/>
            <a:chExt cx="206757" cy="206757"/>
          </a:xfrm>
        </p:grpSpPr>
        <p:sp>
          <p:nvSpPr>
            <p:cNvPr name="Freeform 12" id="12"/>
            <p:cNvSpPr/>
            <p:nvPr/>
          </p:nvSpPr>
          <p:spPr>
            <a:xfrm flipH="false" flipV="false" rot="0">
              <a:off x="0" y="0"/>
              <a:ext cx="206757" cy="206757"/>
            </a:xfrm>
            <a:custGeom>
              <a:avLst/>
              <a:gdLst/>
              <a:ahLst/>
              <a:cxnLst/>
              <a:rect r="r" b="b" t="t" l="l"/>
              <a:pathLst>
                <a:path h="206757" w="206757">
                  <a:moveTo>
                    <a:pt x="103379" y="0"/>
                  </a:moveTo>
                  <a:cubicBezTo>
                    <a:pt x="46284" y="0"/>
                    <a:pt x="0" y="46284"/>
                    <a:pt x="0" y="103379"/>
                  </a:cubicBezTo>
                  <a:cubicBezTo>
                    <a:pt x="0" y="160473"/>
                    <a:pt x="46284" y="206757"/>
                    <a:pt x="103379" y="206757"/>
                  </a:cubicBezTo>
                  <a:cubicBezTo>
                    <a:pt x="160473" y="206757"/>
                    <a:pt x="206757" y="160473"/>
                    <a:pt x="206757" y="103379"/>
                  </a:cubicBezTo>
                  <a:cubicBezTo>
                    <a:pt x="206757" y="46284"/>
                    <a:pt x="160473" y="0"/>
                    <a:pt x="103379" y="0"/>
                  </a:cubicBezTo>
                  <a:close/>
                </a:path>
              </a:pathLst>
            </a:custGeom>
            <a:solidFill>
              <a:srgbClr val="0018FF"/>
            </a:solidFill>
          </p:spPr>
        </p:sp>
        <p:sp>
          <p:nvSpPr>
            <p:cNvPr name="TextBox 13" id="13"/>
            <p:cNvSpPr txBox="true"/>
            <p:nvPr/>
          </p:nvSpPr>
          <p:spPr>
            <a:xfrm>
              <a:off x="19383" y="-18717"/>
              <a:ext cx="167990" cy="206090"/>
            </a:xfrm>
            <a:prstGeom prst="rect">
              <a:avLst/>
            </a:prstGeom>
          </p:spPr>
          <p:txBody>
            <a:bodyPr anchor="ctr" rtlCol="false" tIns="50800" lIns="50800" bIns="50800" rIns="50800"/>
            <a:lstStyle/>
            <a:p>
              <a:pPr algn="ctr">
                <a:lnSpc>
                  <a:spcPts val="2871"/>
                </a:lnSpc>
              </a:pPr>
            </a:p>
          </p:txBody>
        </p:sp>
      </p:grpSp>
      <p:sp>
        <p:nvSpPr>
          <p:cNvPr name="Freeform 14" id="14"/>
          <p:cNvSpPr/>
          <p:nvPr/>
        </p:nvSpPr>
        <p:spPr>
          <a:xfrm flipH="false" flipV="false" rot="0">
            <a:off x="761691" y="2900692"/>
            <a:ext cx="7096861" cy="5825665"/>
          </a:xfrm>
          <a:custGeom>
            <a:avLst/>
            <a:gdLst/>
            <a:ahLst/>
            <a:cxnLst/>
            <a:rect r="r" b="b" t="t" l="l"/>
            <a:pathLst>
              <a:path h="5825665" w="7096861">
                <a:moveTo>
                  <a:pt x="0" y="0"/>
                </a:moveTo>
                <a:lnTo>
                  <a:pt x="7096860" y="0"/>
                </a:lnTo>
                <a:lnTo>
                  <a:pt x="7096860" y="5825665"/>
                </a:lnTo>
                <a:lnTo>
                  <a:pt x="0" y="5825665"/>
                </a:lnTo>
                <a:lnTo>
                  <a:pt x="0" y="0"/>
                </a:lnTo>
                <a:close/>
              </a:path>
            </a:pathLst>
          </a:custGeom>
          <a:blipFill>
            <a:blip r:embed="rId4"/>
            <a:stretch>
              <a:fillRect l="-717" t="0" r="-9467" b="0"/>
            </a:stretch>
          </a:blipFill>
        </p:spPr>
      </p:sp>
      <p:sp>
        <p:nvSpPr>
          <p:cNvPr name="Freeform 15" id="15"/>
          <p:cNvSpPr/>
          <p:nvPr/>
        </p:nvSpPr>
        <p:spPr>
          <a:xfrm flipH="false" flipV="false" rot="0">
            <a:off x="8237009" y="2963040"/>
            <a:ext cx="9479465" cy="5570017"/>
          </a:xfrm>
          <a:custGeom>
            <a:avLst/>
            <a:gdLst/>
            <a:ahLst/>
            <a:cxnLst/>
            <a:rect r="r" b="b" t="t" l="l"/>
            <a:pathLst>
              <a:path h="5570017" w="9479465">
                <a:moveTo>
                  <a:pt x="0" y="0"/>
                </a:moveTo>
                <a:lnTo>
                  <a:pt x="9479466" y="0"/>
                </a:lnTo>
                <a:lnTo>
                  <a:pt x="9479466" y="5570017"/>
                </a:lnTo>
                <a:lnTo>
                  <a:pt x="0" y="5570017"/>
                </a:lnTo>
                <a:lnTo>
                  <a:pt x="0" y="0"/>
                </a:lnTo>
                <a:close/>
              </a:path>
            </a:pathLst>
          </a:custGeom>
          <a:blipFill>
            <a:blip r:embed="rId5"/>
            <a:stretch>
              <a:fillRect l="-18053" t="-2336" r="-15945" b="0"/>
            </a:stretch>
          </a:blipFill>
        </p:spPr>
      </p:sp>
      <p:sp>
        <p:nvSpPr>
          <p:cNvPr name="TextBox 16" id="16"/>
          <p:cNvSpPr txBox="true"/>
          <p:nvPr/>
        </p:nvSpPr>
        <p:spPr>
          <a:xfrm rot="0">
            <a:off x="15762422" y="764137"/>
            <a:ext cx="1421291" cy="330200"/>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Montserrat Bold"/>
                <a:ea typeface="Montserrat Bold"/>
                <a:cs typeface="Montserrat Bold"/>
                <a:sym typeface="Montserrat Bold"/>
              </a:rPr>
              <a:t>Page 10</a:t>
            </a:r>
          </a:p>
        </p:txBody>
      </p:sp>
      <p:sp>
        <p:nvSpPr>
          <p:cNvPr name="TextBox 17" id="17"/>
          <p:cNvSpPr txBox="true"/>
          <p:nvPr/>
        </p:nvSpPr>
        <p:spPr>
          <a:xfrm rot="0">
            <a:off x="949763" y="740947"/>
            <a:ext cx="1761862" cy="37259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Montserrat Heavy"/>
                <a:ea typeface="Montserrat Heavy"/>
                <a:cs typeface="Montserrat Heavy"/>
                <a:sym typeface="Montserrat Heavy"/>
              </a:rPr>
              <a:t>Neural</a:t>
            </a:r>
          </a:p>
        </p:txBody>
      </p:sp>
      <p:sp>
        <p:nvSpPr>
          <p:cNvPr name="TextBox 18" id="18"/>
          <p:cNvSpPr txBox="true"/>
          <p:nvPr/>
        </p:nvSpPr>
        <p:spPr>
          <a:xfrm rot="0">
            <a:off x="2062637" y="740393"/>
            <a:ext cx="1761862" cy="37259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Montserrat"/>
                <a:ea typeface="Montserrat"/>
                <a:cs typeface="Montserrat"/>
                <a:sym typeface="Montserrat"/>
              </a:rPr>
              <a:t>Nexus</a:t>
            </a:r>
          </a:p>
        </p:txBody>
      </p:sp>
      <p:sp>
        <p:nvSpPr>
          <p:cNvPr name="TextBox 19" id="19"/>
          <p:cNvSpPr txBox="true"/>
          <p:nvPr/>
        </p:nvSpPr>
        <p:spPr>
          <a:xfrm rot="0">
            <a:off x="1028700" y="8756408"/>
            <a:ext cx="6110287" cy="347946"/>
          </a:xfrm>
          <a:prstGeom prst="rect">
            <a:avLst/>
          </a:prstGeom>
        </p:spPr>
        <p:txBody>
          <a:bodyPr anchor="t" rtlCol="false" tIns="0" lIns="0" bIns="0" rIns="0">
            <a:spAutoFit/>
          </a:bodyPr>
          <a:lstStyle/>
          <a:p>
            <a:pPr algn="ctr">
              <a:lnSpc>
                <a:spcPts val="2871"/>
              </a:lnSpc>
              <a:spcBef>
                <a:spcPct val="0"/>
              </a:spcBef>
            </a:pPr>
            <a:r>
              <a:rPr lang="en-US" sz="2051" spc="4">
                <a:solidFill>
                  <a:srgbClr val="FFFFFF"/>
                </a:solidFill>
                <a:latin typeface="Montserrat"/>
                <a:ea typeface="Montserrat"/>
                <a:cs typeface="Montserrat"/>
                <a:sym typeface="Montserrat"/>
              </a:rPr>
              <a:t>GPT`s answer</a:t>
            </a:r>
          </a:p>
        </p:txBody>
      </p:sp>
      <p:sp>
        <p:nvSpPr>
          <p:cNvPr name="TextBox 20" id="20"/>
          <p:cNvSpPr txBox="true"/>
          <p:nvPr/>
        </p:nvSpPr>
        <p:spPr>
          <a:xfrm rot="0">
            <a:off x="12035315" y="8756408"/>
            <a:ext cx="1882854" cy="347946"/>
          </a:xfrm>
          <a:prstGeom prst="rect">
            <a:avLst/>
          </a:prstGeom>
        </p:spPr>
        <p:txBody>
          <a:bodyPr anchor="t" rtlCol="false" tIns="0" lIns="0" bIns="0" rIns="0">
            <a:spAutoFit/>
          </a:bodyPr>
          <a:lstStyle/>
          <a:p>
            <a:pPr algn="ctr">
              <a:lnSpc>
                <a:spcPts val="2871"/>
              </a:lnSpc>
              <a:spcBef>
                <a:spcPct val="0"/>
              </a:spcBef>
            </a:pPr>
            <a:r>
              <a:rPr lang="en-US" sz="2051" spc="4">
                <a:solidFill>
                  <a:srgbClr val="FFFFFF"/>
                </a:solidFill>
                <a:latin typeface="Montserrat"/>
                <a:ea typeface="Montserrat"/>
                <a:cs typeface="Montserrat"/>
                <a:sym typeface="Montserrat"/>
              </a:rPr>
              <a:t>SME`s answer</a:t>
            </a:r>
          </a:p>
        </p:txBody>
      </p:sp>
      <p:sp>
        <p:nvSpPr>
          <p:cNvPr name="TextBox 21" id="21"/>
          <p:cNvSpPr txBox="true"/>
          <p:nvPr/>
        </p:nvSpPr>
        <p:spPr>
          <a:xfrm rot="0">
            <a:off x="4641465" y="1524682"/>
            <a:ext cx="11681907" cy="709896"/>
          </a:xfrm>
          <a:prstGeom prst="rect">
            <a:avLst/>
          </a:prstGeom>
        </p:spPr>
        <p:txBody>
          <a:bodyPr anchor="t" rtlCol="false" tIns="0" lIns="0" bIns="0" rIns="0">
            <a:spAutoFit/>
          </a:bodyPr>
          <a:lstStyle/>
          <a:p>
            <a:pPr algn="l">
              <a:lnSpc>
                <a:spcPts val="2871"/>
              </a:lnSpc>
              <a:spcBef>
                <a:spcPct val="0"/>
              </a:spcBef>
            </a:pPr>
            <a:r>
              <a:rPr lang="en-US" sz="2051" spc="4">
                <a:solidFill>
                  <a:srgbClr val="FFFFFF"/>
                </a:solidFill>
                <a:latin typeface="Montserrat"/>
                <a:ea typeface="Montserrat"/>
                <a:cs typeface="Montserrat"/>
                <a:sym typeface="Montserrat"/>
              </a:rPr>
              <a:t>Question : who won the 3</a:t>
            </a:r>
            <a:r>
              <a:rPr lang="en-US" sz="2051" spc="4">
                <a:solidFill>
                  <a:srgbClr val="FFFFFF"/>
                </a:solidFill>
                <a:latin typeface="Montserrat"/>
                <a:ea typeface="Montserrat"/>
                <a:cs typeface="Montserrat"/>
                <a:sym typeface="Montserrat"/>
              </a:rPr>
              <a:t>rd</a:t>
            </a:r>
            <a:r>
              <a:rPr lang="en-US" sz="2051" spc="4">
                <a:solidFill>
                  <a:srgbClr val="FFFFFF"/>
                </a:solidFill>
                <a:latin typeface="Montserrat"/>
                <a:ea typeface="Montserrat"/>
                <a:cs typeface="Montserrat"/>
                <a:sym typeface="Montserrat"/>
              </a:rPr>
              <a:t> test match in England tour of India in 2001/2002, hosted in bengaluru</a:t>
            </a:r>
          </a:p>
        </p:txBody>
      </p:sp>
      <p:sp>
        <p:nvSpPr>
          <p:cNvPr name="TextBox 22" id="22"/>
          <p:cNvSpPr txBox="true"/>
          <p:nvPr/>
        </p:nvSpPr>
        <p:spPr>
          <a:xfrm rot="0">
            <a:off x="949763" y="1290022"/>
            <a:ext cx="2558055" cy="854075"/>
          </a:xfrm>
          <a:prstGeom prst="rect">
            <a:avLst/>
          </a:prstGeom>
        </p:spPr>
        <p:txBody>
          <a:bodyPr anchor="t" rtlCol="false" tIns="0" lIns="0" bIns="0" rIns="0">
            <a:spAutoFit/>
          </a:bodyPr>
          <a:lstStyle/>
          <a:p>
            <a:pPr algn="just" marL="0" indent="0" lvl="0">
              <a:lnSpc>
                <a:spcPts val="7000"/>
              </a:lnSpc>
              <a:spcBef>
                <a:spcPct val="0"/>
              </a:spcBef>
            </a:pPr>
            <a:r>
              <a:rPr lang="en-US" sz="5000" spc="-305">
                <a:solidFill>
                  <a:srgbClr val="FFFFFF"/>
                </a:solidFill>
                <a:latin typeface="Montserrat"/>
                <a:ea typeface="Montserrat"/>
                <a:cs typeface="Montserrat"/>
                <a:sym typeface="Montserrat"/>
              </a:rPr>
              <a:t>Results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513352" y="667880"/>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18FF"/>
            </a:soli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5762422" y="764137"/>
            <a:ext cx="1421291" cy="330200"/>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Montserrat Bold"/>
                <a:ea typeface="Montserrat Bold"/>
                <a:cs typeface="Montserrat Bold"/>
                <a:sym typeface="Montserrat Bold"/>
              </a:rPr>
              <a:t>Page 11</a:t>
            </a:r>
          </a:p>
        </p:txBody>
      </p:sp>
      <p:sp>
        <p:nvSpPr>
          <p:cNvPr name="TextBox 6" id="6"/>
          <p:cNvSpPr txBox="true"/>
          <p:nvPr/>
        </p:nvSpPr>
        <p:spPr>
          <a:xfrm rot="0">
            <a:off x="1446325" y="2063520"/>
            <a:ext cx="5517831" cy="1741663"/>
          </a:xfrm>
          <a:prstGeom prst="rect">
            <a:avLst/>
          </a:prstGeom>
        </p:spPr>
        <p:txBody>
          <a:bodyPr anchor="t" rtlCol="false" tIns="0" lIns="0" bIns="0" rIns="0">
            <a:spAutoFit/>
          </a:bodyPr>
          <a:lstStyle/>
          <a:p>
            <a:pPr algn="just" marL="0" indent="0" lvl="0">
              <a:lnSpc>
                <a:spcPts val="14252"/>
              </a:lnSpc>
              <a:spcBef>
                <a:spcPct val="0"/>
              </a:spcBef>
            </a:pPr>
            <a:r>
              <a:rPr lang="en-US" sz="10180" spc="-621">
                <a:solidFill>
                  <a:srgbClr val="FFFFFF"/>
                </a:solidFill>
                <a:latin typeface="Montserrat"/>
                <a:ea typeface="Montserrat"/>
                <a:cs typeface="Montserrat"/>
                <a:sym typeface="Montserrat"/>
              </a:rPr>
              <a:t>Our</a:t>
            </a:r>
          </a:p>
        </p:txBody>
      </p:sp>
      <p:sp>
        <p:nvSpPr>
          <p:cNvPr name="TextBox 7" id="7"/>
          <p:cNvSpPr txBox="true"/>
          <p:nvPr/>
        </p:nvSpPr>
        <p:spPr>
          <a:xfrm rot="0">
            <a:off x="1470572" y="3643258"/>
            <a:ext cx="5863970" cy="1418958"/>
          </a:xfrm>
          <a:prstGeom prst="rect">
            <a:avLst/>
          </a:prstGeom>
        </p:spPr>
        <p:txBody>
          <a:bodyPr anchor="t" rtlCol="false" tIns="0" lIns="0" bIns="0" rIns="0">
            <a:spAutoFit/>
          </a:bodyPr>
          <a:lstStyle/>
          <a:p>
            <a:pPr algn="just" marL="0" indent="0" lvl="0">
              <a:lnSpc>
                <a:spcPts val="11564"/>
              </a:lnSpc>
              <a:spcBef>
                <a:spcPct val="0"/>
              </a:spcBef>
            </a:pPr>
            <a:r>
              <a:rPr lang="en-US" b="true" sz="8260" spc="-503">
                <a:solidFill>
                  <a:srgbClr val="FFFFFF"/>
                </a:solidFill>
                <a:latin typeface="Montserrat Bold"/>
                <a:ea typeface="Montserrat Bold"/>
                <a:cs typeface="Montserrat Bold"/>
                <a:sym typeface="Montserrat Bold"/>
              </a:rPr>
              <a:t>SME Plugin</a:t>
            </a:r>
          </a:p>
        </p:txBody>
      </p:sp>
      <p:sp>
        <p:nvSpPr>
          <p:cNvPr name="TextBox 8" id="8"/>
          <p:cNvSpPr txBox="true"/>
          <p:nvPr/>
        </p:nvSpPr>
        <p:spPr>
          <a:xfrm rot="0">
            <a:off x="8148008" y="1573412"/>
            <a:ext cx="3711567" cy="348996"/>
          </a:xfrm>
          <a:prstGeom prst="rect">
            <a:avLst/>
          </a:prstGeom>
        </p:spPr>
        <p:txBody>
          <a:bodyPr anchor="t" rtlCol="false" tIns="0" lIns="0" bIns="0" rIns="0">
            <a:spAutoFit/>
          </a:bodyPr>
          <a:lstStyle/>
          <a:p>
            <a:pPr algn="l">
              <a:lnSpc>
                <a:spcPts val="2831"/>
              </a:lnSpc>
            </a:pPr>
            <a:r>
              <a:rPr lang="en-US" sz="2399" i="true" spc="4">
                <a:solidFill>
                  <a:srgbClr val="FFFFFF"/>
                </a:solidFill>
                <a:latin typeface="Montserrat Italics"/>
                <a:ea typeface="Montserrat Italics"/>
                <a:cs typeface="Montserrat Italics"/>
                <a:sym typeface="Montserrat Italics"/>
              </a:rPr>
              <a:t>Without SME:</a:t>
            </a:r>
          </a:p>
        </p:txBody>
      </p:sp>
      <p:grpSp>
        <p:nvGrpSpPr>
          <p:cNvPr name="Group 9" id="9"/>
          <p:cNvGrpSpPr/>
          <p:nvPr/>
        </p:nvGrpSpPr>
        <p:grpSpPr>
          <a:xfrm rot="0">
            <a:off x="10567232" y="4365718"/>
            <a:ext cx="1367946" cy="136794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8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871"/>
                </a:lnSpc>
              </a:pPr>
            </a:p>
          </p:txBody>
        </p:sp>
      </p:grpSp>
      <p:sp>
        <p:nvSpPr>
          <p:cNvPr name="Freeform 12" id="12"/>
          <p:cNvSpPr/>
          <p:nvPr/>
        </p:nvSpPr>
        <p:spPr>
          <a:xfrm flipH="true" flipV="false" rot="0">
            <a:off x="3243294" y="6446622"/>
            <a:ext cx="2796342" cy="2811678"/>
          </a:xfrm>
          <a:custGeom>
            <a:avLst/>
            <a:gdLst/>
            <a:ahLst/>
            <a:cxnLst/>
            <a:rect r="r" b="b" t="t" l="l"/>
            <a:pathLst>
              <a:path h="2811678" w="2796342">
                <a:moveTo>
                  <a:pt x="2796342" y="0"/>
                </a:moveTo>
                <a:lnTo>
                  <a:pt x="0" y="0"/>
                </a:lnTo>
                <a:lnTo>
                  <a:pt x="0" y="2811678"/>
                </a:lnTo>
                <a:lnTo>
                  <a:pt x="2796342" y="2811678"/>
                </a:lnTo>
                <a:lnTo>
                  <a:pt x="279634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true" flipV="false" rot="0">
            <a:off x="1470572" y="6446622"/>
            <a:ext cx="2796342" cy="2811678"/>
          </a:xfrm>
          <a:custGeom>
            <a:avLst/>
            <a:gdLst/>
            <a:ahLst/>
            <a:cxnLst/>
            <a:rect r="r" b="b" t="t" l="l"/>
            <a:pathLst>
              <a:path h="2811678" w="2796342">
                <a:moveTo>
                  <a:pt x="2796342" y="0"/>
                </a:moveTo>
                <a:lnTo>
                  <a:pt x="0" y="0"/>
                </a:lnTo>
                <a:lnTo>
                  <a:pt x="0" y="2811678"/>
                </a:lnTo>
                <a:lnTo>
                  <a:pt x="2796342" y="2811678"/>
                </a:lnTo>
                <a:lnTo>
                  <a:pt x="279634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8148008" y="2207650"/>
            <a:ext cx="5963044" cy="1597533"/>
          </a:xfrm>
          <a:prstGeom prst="rect">
            <a:avLst/>
          </a:prstGeom>
        </p:spPr>
        <p:txBody>
          <a:bodyPr anchor="t" rtlCol="false" tIns="0" lIns="0" bIns="0" rIns="0">
            <a:spAutoFit/>
          </a:bodyPr>
          <a:lstStyle/>
          <a:p>
            <a:pPr algn="l" marL="582927" indent="-291463" lvl="1">
              <a:lnSpc>
                <a:spcPts val="3185"/>
              </a:lnSpc>
              <a:buFont typeface="Arial"/>
              <a:buChar char="•"/>
            </a:pPr>
            <a:r>
              <a:rPr lang="en-US" sz="2699" i="true" spc="5">
                <a:solidFill>
                  <a:srgbClr val="FFFFFF"/>
                </a:solidFill>
                <a:latin typeface="Montserrat Italics"/>
                <a:ea typeface="Montserrat Italics"/>
                <a:cs typeface="Montserrat Italics"/>
                <a:sym typeface="Montserrat Italics"/>
              </a:rPr>
              <a:t>Non-Specific explanation </a:t>
            </a:r>
          </a:p>
          <a:p>
            <a:pPr algn="l" marL="582927" indent="-291463" lvl="1">
              <a:lnSpc>
                <a:spcPts val="3185"/>
              </a:lnSpc>
              <a:buFont typeface="Arial"/>
              <a:buChar char="•"/>
            </a:pPr>
            <a:r>
              <a:rPr lang="en-US" sz="2699" i="true" spc="5">
                <a:solidFill>
                  <a:srgbClr val="FFFFFF"/>
                </a:solidFill>
                <a:latin typeface="Montserrat Italics"/>
                <a:ea typeface="Montserrat Italics"/>
                <a:cs typeface="Montserrat Italics"/>
                <a:sym typeface="Montserrat Italics"/>
              </a:rPr>
              <a:t>Random / No citations </a:t>
            </a:r>
          </a:p>
          <a:p>
            <a:pPr algn="l" marL="582927" indent="-291463" lvl="1">
              <a:lnSpc>
                <a:spcPts val="3185"/>
              </a:lnSpc>
              <a:buFont typeface="Arial"/>
              <a:buChar char="•"/>
            </a:pPr>
            <a:r>
              <a:rPr lang="en-US" sz="2699" i="true" spc="5">
                <a:solidFill>
                  <a:srgbClr val="FFFFFF"/>
                </a:solidFill>
                <a:latin typeface="Montserrat Italics"/>
                <a:ea typeface="Montserrat Italics"/>
                <a:cs typeface="Montserrat Italics"/>
                <a:sym typeface="Montserrat Italics"/>
              </a:rPr>
              <a:t>No verification </a:t>
            </a:r>
          </a:p>
          <a:p>
            <a:pPr algn="l" marL="582927" indent="-291463" lvl="1">
              <a:lnSpc>
                <a:spcPts val="3185"/>
              </a:lnSpc>
              <a:buFont typeface="Arial"/>
              <a:buChar char="•"/>
            </a:pPr>
            <a:r>
              <a:rPr lang="en-US" sz="2699" i="true" spc="5">
                <a:solidFill>
                  <a:srgbClr val="FFFFFF"/>
                </a:solidFill>
                <a:latin typeface="Montserrat Italics"/>
                <a:ea typeface="Montserrat Italics"/>
                <a:cs typeface="Montserrat Italics"/>
                <a:sym typeface="Montserrat Italics"/>
              </a:rPr>
              <a:t>No hallucination detection</a:t>
            </a:r>
          </a:p>
        </p:txBody>
      </p:sp>
      <p:sp>
        <p:nvSpPr>
          <p:cNvPr name="TextBox 15" id="15"/>
          <p:cNvSpPr txBox="true"/>
          <p:nvPr/>
        </p:nvSpPr>
        <p:spPr>
          <a:xfrm rot="0">
            <a:off x="949763" y="740947"/>
            <a:ext cx="1761862" cy="37259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Montserrat Heavy"/>
                <a:ea typeface="Montserrat Heavy"/>
                <a:cs typeface="Montserrat Heavy"/>
                <a:sym typeface="Montserrat Heavy"/>
              </a:rPr>
              <a:t>Neural</a:t>
            </a:r>
          </a:p>
        </p:txBody>
      </p:sp>
      <p:sp>
        <p:nvSpPr>
          <p:cNvPr name="TextBox 16" id="16"/>
          <p:cNvSpPr txBox="true"/>
          <p:nvPr/>
        </p:nvSpPr>
        <p:spPr>
          <a:xfrm rot="0">
            <a:off x="2062637" y="740393"/>
            <a:ext cx="1761862" cy="37259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Montserrat"/>
                <a:ea typeface="Montserrat"/>
                <a:cs typeface="Montserrat"/>
                <a:sym typeface="Montserrat"/>
              </a:rPr>
              <a:t>Nexus</a:t>
            </a:r>
          </a:p>
        </p:txBody>
      </p:sp>
      <p:sp>
        <p:nvSpPr>
          <p:cNvPr name="TextBox 17" id="17"/>
          <p:cNvSpPr txBox="true"/>
          <p:nvPr/>
        </p:nvSpPr>
        <p:spPr>
          <a:xfrm rot="0">
            <a:off x="11129530" y="6303723"/>
            <a:ext cx="3711567" cy="348996"/>
          </a:xfrm>
          <a:prstGeom prst="rect">
            <a:avLst/>
          </a:prstGeom>
        </p:spPr>
        <p:txBody>
          <a:bodyPr anchor="t" rtlCol="false" tIns="0" lIns="0" bIns="0" rIns="0">
            <a:spAutoFit/>
          </a:bodyPr>
          <a:lstStyle/>
          <a:p>
            <a:pPr algn="l">
              <a:lnSpc>
                <a:spcPts val="2831"/>
              </a:lnSpc>
            </a:pPr>
            <a:r>
              <a:rPr lang="en-US" sz="2399" i="true" spc="4">
                <a:solidFill>
                  <a:srgbClr val="FFFFFF"/>
                </a:solidFill>
                <a:latin typeface="Montserrat Italics"/>
                <a:ea typeface="Montserrat Italics"/>
                <a:cs typeface="Montserrat Italics"/>
                <a:sym typeface="Montserrat Italics"/>
              </a:rPr>
              <a:t>With SME:</a:t>
            </a:r>
          </a:p>
        </p:txBody>
      </p:sp>
      <p:sp>
        <p:nvSpPr>
          <p:cNvPr name="TextBox 18" id="18"/>
          <p:cNvSpPr txBox="true"/>
          <p:nvPr/>
        </p:nvSpPr>
        <p:spPr>
          <a:xfrm rot="0">
            <a:off x="11251205" y="6938469"/>
            <a:ext cx="6737338" cy="2397633"/>
          </a:xfrm>
          <a:prstGeom prst="rect">
            <a:avLst/>
          </a:prstGeom>
        </p:spPr>
        <p:txBody>
          <a:bodyPr anchor="t" rtlCol="false" tIns="0" lIns="0" bIns="0" rIns="0">
            <a:spAutoFit/>
          </a:bodyPr>
          <a:lstStyle/>
          <a:p>
            <a:pPr algn="l" marL="582927" indent="-291463" lvl="1">
              <a:lnSpc>
                <a:spcPts val="3185"/>
              </a:lnSpc>
              <a:buFont typeface="Arial"/>
              <a:buChar char="•"/>
            </a:pPr>
            <a:r>
              <a:rPr lang="en-US" sz="2699" i="true" spc="5">
                <a:solidFill>
                  <a:srgbClr val="FFFFFF"/>
                </a:solidFill>
                <a:latin typeface="Montserrat Italics"/>
                <a:ea typeface="Montserrat Italics"/>
                <a:cs typeface="Montserrat Italics"/>
                <a:sym typeface="Montserrat Italics"/>
              </a:rPr>
              <a:t>Domain detected (Taxes/ Cricket) </a:t>
            </a:r>
          </a:p>
          <a:p>
            <a:pPr algn="l" marL="582927" indent="-291463" lvl="1">
              <a:lnSpc>
                <a:spcPts val="3185"/>
              </a:lnSpc>
              <a:buFont typeface="Arial"/>
              <a:buChar char="•"/>
            </a:pPr>
            <a:r>
              <a:rPr lang="en-US" sz="2699" i="true" spc="5">
                <a:solidFill>
                  <a:srgbClr val="FFFFFF"/>
                </a:solidFill>
                <a:latin typeface="Montserrat Italics"/>
                <a:ea typeface="Montserrat Italics"/>
                <a:cs typeface="Montserrat Italics"/>
                <a:sym typeface="Montserrat Italics"/>
              </a:rPr>
              <a:t>Structured reasoning path </a:t>
            </a:r>
          </a:p>
          <a:p>
            <a:pPr algn="l" marL="582927" indent="-291463" lvl="1">
              <a:lnSpc>
                <a:spcPts val="3185"/>
              </a:lnSpc>
              <a:buFont typeface="Arial"/>
              <a:buChar char="•"/>
            </a:pPr>
            <a:r>
              <a:rPr lang="en-US" sz="2699" i="true" spc="5">
                <a:solidFill>
                  <a:srgbClr val="FFFFFF"/>
                </a:solidFill>
                <a:latin typeface="Montserrat Italics"/>
                <a:ea typeface="Montserrat Italics"/>
                <a:cs typeface="Montserrat Italics"/>
                <a:sym typeface="Montserrat Italics"/>
              </a:rPr>
              <a:t>Retrieved references </a:t>
            </a:r>
          </a:p>
          <a:p>
            <a:pPr algn="l" marL="582927" indent="-291463" lvl="1">
              <a:lnSpc>
                <a:spcPts val="3185"/>
              </a:lnSpc>
              <a:buFont typeface="Arial"/>
              <a:buChar char="•"/>
            </a:pPr>
            <a:r>
              <a:rPr lang="en-US" sz="2699" i="true" spc="5">
                <a:solidFill>
                  <a:srgbClr val="FFFFFF"/>
                </a:solidFill>
                <a:latin typeface="Montserrat Italics"/>
                <a:ea typeface="Montserrat Italics"/>
                <a:cs typeface="Montserrat Italics"/>
                <a:sym typeface="Montserrat Italics"/>
              </a:rPr>
              <a:t>Hallucination flagged </a:t>
            </a:r>
          </a:p>
          <a:p>
            <a:pPr algn="l" marL="582927" indent="-291463" lvl="1">
              <a:lnSpc>
                <a:spcPts val="3185"/>
              </a:lnSpc>
              <a:buFont typeface="Arial"/>
              <a:buChar char="•"/>
            </a:pPr>
            <a:r>
              <a:rPr lang="en-US" sz="2699" i="true" spc="5">
                <a:solidFill>
                  <a:srgbClr val="FFFFFF"/>
                </a:solidFill>
                <a:latin typeface="Montserrat Italics"/>
                <a:ea typeface="Montserrat Italics"/>
                <a:cs typeface="Montserrat Italics"/>
                <a:sym typeface="Montserrat Italics"/>
              </a:rPr>
              <a:t>Citation enforcement </a:t>
            </a:r>
          </a:p>
          <a:p>
            <a:pPr algn="l" marL="582927" indent="-291463" lvl="1">
              <a:lnSpc>
                <a:spcPts val="3185"/>
              </a:lnSpc>
              <a:buFont typeface="Arial"/>
              <a:buChar char="•"/>
            </a:pPr>
            <a:r>
              <a:rPr lang="en-US" sz="2699" i="true" spc="5">
                <a:solidFill>
                  <a:srgbClr val="FFFFFF"/>
                </a:solidFill>
                <a:latin typeface="Montserrat Italics"/>
                <a:ea typeface="Montserrat Italics"/>
                <a:cs typeface="Montserrat Italics"/>
                <a:sym typeface="Montserrat Italics"/>
              </a:rPr>
              <a:t>Confidence score shown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513352" y="667880"/>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18FF"/>
            </a:soli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false" rot="0">
            <a:off x="13609364" y="5575380"/>
            <a:ext cx="3823418" cy="3844387"/>
          </a:xfrm>
          <a:custGeom>
            <a:avLst/>
            <a:gdLst/>
            <a:ahLst/>
            <a:cxnLst/>
            <a:rect r="r" b="b" t="t" l="l"/>
            <a:pathLst>
              <a:path h="3844387" w="3823418">
                <a:moveTo>
                  <a:pt x="3823418" y="0"/>
                </a:moveTo>
                <a:lnTo>
                  <a:pt x="0" y="0"/>
                </a:lnTo>
                <a:lnTo>
                  <a:pt x="0" y="3844387"/>
                </a:lnTo>
                <a:lnTo>
                  <a:pt x="3823418" y="3844387"/>
                </a:lnTo>
                <a:lnTo>
                  <a:pt x="382341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1185534" y="5575380"/>
            <a:ext cx="3823418" cy="3844387"/>
          </a:xfrm>
          <a:custGeom>
            <a:avLst/>
            <a:gdLst/>
            <a:ahLst/>
            <a:cxnLst/>
            <a:rect r="r" b="b" t="t" l="l"/>
            <a:pathLst>
              <a:path h="3844387" w="3823418">
                <a:moveTo>
                  <a:pt x="3823418" y="0"/>
                </a:moveTo>
                <a:lnTo>
                  <a:pt x="0" y="0"/>
                </a:lnTo>
                <a:lnTo>
                  <a:pt x="0" y="3844387"/>
                </a:lnTo>
                <a:lnTo>
                  <a:pt x="3823418" y="3844387"/>
                </a:lnTo>
                <a:lnTo>
                  <a:pt x="382341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9845872" y="2486058"/>
            <a:ext cx="7067861" cy="3476792"/>
            <a:chOff x="0" y="0"/>
            <a:chExt cx="8459470" cy="4161346"/>
          </a:xfrm>
        </p:grpSpPr>
        <p:sp>
          <p:nvSpPr>
            <p:cNvPr name="Freeform 8" id="8"/>
            <p:cNvSpPr/>
            <p:nvPr/>
          </p:nvSpPr>
          <p:spPr>
            <a:xfrm flipH="false" flipV="false" rot="0">
              <a:off x="0" y="0"/>
              <a:ext cx="8459470" cy="4159959"/>
            </a:xfrm>
            <a:custGeom>
              <a:avLst/>
              <a:gdLst/>
              <a:ahLst/>
              <a:cxnLst/>
              <a:rect r="r" b="b" t="t" l="l"/>
              <a:pathLst>
                <a:path h="4159959" w="8459470">
                  <a:moveTo>
                    <a:pt x="458470" y="0"/>
                  </a:moveTo>
                  <a:lnTo>
                    <a:pt x="8001000" y="0"/>
                  </a:lnTo>
                  <a:cubicBezTo>
                    <a:pt x="8255000" y="0"/>
                    <a:pt x="8459470" y="224713"/>
                    <a:pt x="8459470" y="500749"/>
                  </a:cubicBezTo>
                  <a:lnTo>
                    <a:pt x="8459470" y="2534260"/>
                  </a:lnTo>
                  <a:cubicBezTo>
                    <a:pt x="8459470" y="2677133"/>
                    <a:pt x="8403590" y="2814457"/>
                    <a:pt x="8304530" y="2908781"/>
                  </a:cubicBezTo>
                  <a:lnTo>
                    <a:pt x="7141210" y="4033732"/>
                  </a:lnTo>
                  <a:cubicBezTo>
                    <a:pt x="7057390" y="4115572"/>
                    <a:pt x="6949440" y="4159959"/>
                    <a:pt x="6836410" y="4159959"/>
                  </a:cubicBezTo>
                  <a:lnTo>
                    <a:pt x="3760470" y="4159959"/>
                  </a:lnTo>
                  <a:cubicBezTo>
                    <a:pt x="3506470" y="4159959"/>
                    <a:pt x="3302000" y="3935247"/>
                    <a:pt x="3302000" y="3659211"/>
                  </a:cubicBezTo>
                  <a:lnTo>
                    <a:pt x="3302000" y="3524660"/>
                  </a:lnTo>
                  <a:cubicBezTo>
                    <a:pt x="3302000" y="3247237"/>
                    <a:pt x="3096260" y="3023912"/>
                    <a:pt x="2843530" y="3023912"/>
                  </a:cubicBezTo>
                  <a:lnTo>
                    <a:pt x="458470" y="3023912"/>
                  </a:lnTo>
                  <a:cubicBezTo>
                    <a:pt x="205740" y="3023912"/>
                    <a:pt x="0" y="2799199"/>
                    <a:pt x="0" y="2523163"/>
                  </a:cubicBezTo>
                  <a:lnTo>
                    <a:pt x="0" y="500749"/>
                  </a:lnTo>
                  <a:cubicBezTo>
                    <a:pt x="0" y="224713"/>
                    <a:pt x="205740" y="0"/>
                    <a:pt x="458470" y="0"/>
                  </a:cubicBezTo>
                  <a:close/>
                </a:path>
              </a:pathLst>
            </a:custGeom>
            <a:blipFill>
              <a:blip r:embed="rId4"/>
              <a:stretch>
                <a:fillRect l="0" t="-10522" r="0" b="-10522"/>
              </a:stretch>
            </a:blipFill>
          </p:spPr>
        </p:sp>
      </p:grpSp>
      <p:grpSp>
        <p:nvGrpSpPr>
          <p:cNvPr name="Group 9" id="9"/>
          <p:cNvGrpSpPr/>
          <p:nvPr/>
        </p:nvGrpSpPr>
        <p:grpSpPr>
          <a:xfrm rot="0">
            <a:off x="9144000" y="2805206"/>
            <a:ext cx="1207432" cy="120743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8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871"/>
                </a:lnSpc>
              </a:pPr>
            </a:p>
          </p:txBody>
        </p:sp>
      </p:grpSp>
      <p:sp>
        <p:nvSpPr>
          <p:cNvPr name="TextBox 12" id="12"/>
          <p:cNvSpPr txBox="true"/>
          <p:nvPr/>
        </p:nvSpPr>
        <p:spPr>
          <a:xfrm rot="0">
            <a:off x="15762422" y="764137"/>
            <a:ext cx="1421291" cy="330200"/>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Montserrat Bold"/>
                <a:ea typeface="Montserrat Bold"/>
                <a:cs typeface="Montserrat Bold"/>
                <a:sym typeface="Montserrat Bold"/>
              </a:rPr>
              <a:t>Page 12</a:t>
            </a:r>
          </a:p>
        </p:txBody>
      </p:sp>
      <p:sp>
        <p:nvSpPr>
          <p:cNvPr name="TextBox 13" id="13"/>
          <p:cNvSpPr txBox="true"/>
          <p:nvPr/>
        </p:nvSpPr>
        <p:spPr>
          <a:xfrm rot="0">
            <a:off x="949763" y="1448333"/>
            <a:ext cx="10138676" cy="1343048"/>
          </a:xfrm>
          <a:prstGeom prst="rect">
            <a:avLst/>
          </a:prstGeom>
        </p:spPr>
        <p:txBody>
          <a:bodyPr anchor="t" rtlCol="false" tIns="0" lIns="0" bIns="0" rIns="0">
            <a:spAutoFit/>
          </a:bodyPr>
          <a:lstStyle/>
          <a:p>
            <a:pPr algn="just" marL="0" indent="0" lvl="0">
              <a:lnSpc>
                <a:spcPts val="11023"/>
              </a:lnSpc>
              <a:spcBef>
                <a:spcPct val="0"/>
              </a:spcBef>
            </a:pPr>
            <a:r>
              <a:rPr lang="en-US" sz="7874" spc="-480">
                <a:solidFill>
                  <a:srgbClr val="FFFFFF"/>
                </a:solidFill>
                <a:latin typeface="Montserrat"/>
                <a:ea typeface="Montserrat"/>
                <a:cs typeface="Montserrat"/>
                <a:sym typeface="Montserrat"/>
              </a:rPr>
              <a:t>Importance of</a:t>
            </a:r>
          </a:p>
        </p:txBody>
      </p:sp>
      <p:sp>
        <p:nvSpPr>
          <p:cNvPr name="TextBox 14" id="14"/>
          <p:cNvSpPr txBox="true"/>
          <p:nvPr/>
        </p:nvSpPr>
        <p:spPr>
          <a:xfrm rot="0">
            <a:off x="949763" y="2529653"/>
            <a:ext cx="5473222" cy="1467684"/>
          </a:xfrm>
          <a:prstGeom prst="rect">
            <a:avLst/>
          </a:prstGeom>
        </p:spPr>
        <p:txBody>
          <a:bodyPr anchor="t" rtlCol="false" tIns="0" lIns="0" bIns="0" rIns="0">
            <a:spAutoFit/>
          </a:bodyPr>
          <a:lstStyle/>
          <a:p>
            <a:pPr algn="just" marL="0" indent="0" lvl="0">
              <a:lnSpc>
                <a:spcPts val="12029"/>
              </a:lnSpc>
              <a:spcBef>
                <a:spcPct val="0"/>
              </a:spcBef>
            </a:pPr>
            <a:r>
              <a:rPr lang="en-US" b="true" sz="8592" spc="-524">
                <a:solidFill>
                  <a:srgbClr val="FFFFFF"/>
                </a:solidFill>
                <a:latin typeface="Montserrat Bold"/>
                <a:ea typeface="Montserrat Bold"/>
                <a:cs typeface="Montserrat Bold"/>
                <a:sym typeface="Montserrat Bold"/>
              </a:rPr>
              <a:t>SME</a:t>
            </a:r>
          </a:p>
        </p:txBody>
      </p:sp>
      <p:sp>
        <p:nvSpPr>
          <p:cNvPr name="TextBox 15" id="15"/>
          <p:cNvSpPr txBox="true"/>
          <p:nvPr/>
        </p:nvSpPr>
        <p:spPr>
          <a:xfrm rot="0">
            <a:off x="949763" y="740947"/>
            <a:ext cx="1761862" cy="37259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Montserrat Heavy"/>
                <a:ea typeface="Montserrat Heavy"/>
                <a:cs typeface="Montserrat Heavy"/>
                <a:sym typeface="Montserrat Heavy"/>
              </a:rPr>
              <a:t>Neural</a:t>
            </a:r>
          </a:p>
        </p:txBody>
      </p:sp>
      <p:sp>
        <p:nvSpPr>
          <p:cNvPr name="TextBox 16" id="16"/>
          <p:cNvSpPr txBox="true"/>
          <p:nvPr/>
        </p:nvSpPr>
        <p:spPr>
          <a:xfrm rot="0">
            <a:off x="2062637" y="740393"/>
            <a:ext cx="1761862" cy="37259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Montserrat"/>
                <a:ea typeface="Montserrat"/>
                <a:cs typeface="Montserrat"/>
                <a:sym typeface="Montserrat"/>
              </a:rPr>
              <a:t>Nexus</a:t>
            </a:r>
          </a:p>
        </p:txBody>
      </p:sp>
      <p:sp>
        <p:nvSpPr>
          <p:cNvPr name="TextBox 17" id="17"/>
          <p:cNvSpPr txBox="true"/>
          <p:nvPr/>
        </p:nvSpPr>
        <p:spPr>
          <a:xfrm rot="0">
            <a:off x="-1477495" y="6359605"/>
            <a:ext cx="12541690" cy="669925"/>
          </a:xfrm>
          <a:prstGeom prst="rect">
            <a:avLst/>
          </a:prstGeom>
        </p:spPr>
        <p:txBody>
          <a:bodyPr anchor="t" rtlCol="false" tIns="0" lIns="0" bIns="0" rIns="0">
            <a:spAutoFit/>
          </a:bodyPr>
          <a:lstStyle/>
          <a:p>
            <a:pPr algn="ctr" marL="0" indent="0" lvl="0">
              <a:lnSpc>
                <a:spcPts val="5599"/>
              </a:lnSpc>
              <a:spcBef>
                <a:spcPct val="0"/>
              </a:spcBef>
            </a:pPr>
            <a:r>
              <a:rPr lang="en-US" sz="3999" spc="-243">
                <a:solidFill>
                  <a:srgbClr val="FFFFFF"/>
                </a:solidFill>
                <a:latin typeface="Montserrat"/>
                <a:ea typeface="Montserrat"/>
                <a:cs typeface="Montserrat"/>
                <a:sym typeface="Montserrat"/>
              </a:rPr>
              <a:t>Reliability in High-Stakes </a:t>
            </a:r>
            <a:r>
              <a:rPr lang="en-US" b="true" sz="3999" spc="-243">
                <a:solidFill>
                  <a:srgbClr val="FFFFFF"/>
                </a:solidFill>
                <a:latin typeface="Montserrat Bold"/>
                <a:ea typeface="Montserrat Bold"/>
                <a:cs typeface="Montserrat Bold"/>
                <a:sym typeface="Montserrat Bold"/>
              </a:rPr>
              <a:t>Domains</a:t>
            </a:r>
          </a:p>
        </p:txBody>
      </p:sp>
      <p:sp>
        <p:nvSpPr>
          <p:cNvPr name="TextBox 18" id="18"/>
          <p:cNvSpPr txBox="true"/>
          <p:nvPr/>
        </p:nvSpPr>
        <p:spPr>
          <a:xfrm rot="0">
            <a:off x="-3559220" y="5508705"/>
            <a:ext cx="12541690" cy="669925"/>
          </a:xfrm>
          <a:prstGeom prst="rect">
            <a:avLst/>
          </a:prstGeom>
        </p:spPr>
        <p:txBody>
          <a:bodyPr anchor="t" rtlCol="false" tIns="0" lIns="0" bIns="0" rIns="0">
            <a:spAutoFit/>
          </a:bodyPr>
          <a:lstStyle/>
          <a:p>
            <a:pPr algn="ctr" marL="0" indent="0" lvl="0">
              <a:lnSpc>
                <a:spcPts val="5599"/>
              </a:lnSpc>
              <a:spcBef>
                <a:spcPct val="0"/>
              </a:spcBef>
            </a:pPr>
            <a:r>
              <a:rPr lang="en-US" sz="3999" spc="-243">
                <a:solidFill>
                  <a:srgbClr val="FFFFFF"/>
                </a:solidFill>
                <a:latin typeface="Montserrat"/>
                <a:ea typeface="Montserrat"/>
                <a:cs typeface="Montserrat"/>
                <a:sym typeface="Montserrat"/>
              </a:rPr>
              <a:t>Source-of-</a:t>
            </a:r>
            <a:r>
              <a:rPr lang="en-US" b="true" sz="3999" spc="-243">
                <a:solidFill>
                  <a:srgbClr val="FFFFFF"/>
                </a:solidFill>
                <a:latin typeface="Montserrat Bold"/>
                <a:ea typeface="Montserrat Bold"/>
                <a:cs typeface="Montserrat Bold"/>
                <a:sym typeface="Montserrat Bold"/>
              </a:rPr>
              <a:t>Truth</a:t>
            </a:r>
          </a:p>
        </p:txBody>
      </p:sp>
      <p:sp>
        <p:nvSpPr>
          <p:cNvPr name="TextBox 19" id="19"/>
          <p:cNvSpPr txBox="true"/>
          <p:nvPr/>
        </p:nvSpPr>
        <p:spPr>
          <a:xfrm rot="0">
            <a:off x="-3327277" y="4658313"/>
            <a:ext cx="12541690" cy="669925"/>
          </a:xfrm>
          <a:prstGeom prst="rect">
            <a:avLst/>
          </a:prstGeom>
        </p:spPr>
        <p:txBody>
          <a:bodyPr anchor="t" rtlCol="false" tIns="0" lIns="0" bIns="0" rIns="0">
            <a:spAutoFit/>
          </a:bodyPr>
          <a:lstStyle/>
          <a:p>
            <a:pPr algn="ctr" marL="0" indent="0" lvl="0">
              <a:lnSpc>
                <a:spcPts val="5599"/>
              </a:lnSpc>
              <a:spcBef>
                <a:spcPct val="0"/>
              </a:spcBef>
            </a:pPr>
            <a:r>
              <a:rPr lang="en-US" b="true" sz="3999" spc="-243">
                <a:solidFill>
                  <a:srgbClr val="FFFFFF"/>
                </a:solidFill>
                <a:latin typeface="Montserrat Bold"/>
                <a:ea typeface="Montserrat Bold"/>
                <a:cs typeface="Montserrat Bold"/>
                <a:sym typeface="Montserrat Bold"/>
              </a:rPr>
              <a:t>Domain </a:t>
            </a:r>
            <a:r>
              <a:rPr lang="en-US" sz="3999" spc="-243">
                <a:solidFill>
                  <a:srgbClr val="FFFFFF"/>
                </a:solidFill>
                <a:latin typeface="Montserrat"/>
                <a:ea typeface="Montserrat"/>
                <a:cs typeface="Montserrat"/>
                <a:sym typeface="Montserrat"/>
              </a:rPr>
              <a:t>Expertise</a:t>
            </a:r>
          </a:p>
        </p:txBody>
      </p:sp>
      <p:sp>
        <p:nvSpPr>
          <p:cNvPr name="TextBox 20" id="20"/>
          <p:cNvSpPr txBox="true"/>
          <p:nvPr/>
        </p:nvSpPr>
        <p:spPr>
          <a:xfrm rot="0">
            <a:off x="-2708249" y="7210505"/>
            <a:ext cx="12541690" cy="669925"/>
          </a:xfrm>
          <a:prstGeom prst="rect">
            <a:avLst/>
          </a:prstGeom>
        </p:spPr>
        <p:txBody>
          <a:bodyPr anchor="t" rtlCol="false" tIns="0" lIns="0" bIns="0" rIns="0">
            <a:spAutoFit/>
          </a:bodyPr>
          <a:lstStyle/>
          <a:p>
            <a:pPr algn="ctr" marL="0" indent="0" lvl="0">
              <a:lnSpc>
                <a:spcPts val="5599"/>
              </a:lnSpc>
              <a:spcBef>
                <a:spcPct val="0"/>
              </a:spcBef>
            </a:pPr>
            <a:r>
              <a:rPr lang="en-US" sz="3999" spc="-243">
                <a:solidFill>
                  <a:srgbClr val="FFFFFF"/>
                </a:solidFill>
                <a:latin typeface="Montserrat"/>
                <a:ea typeface="Montserrat"/>
                <a:cs typeface="Montserrat"/>
                <a:sym typeface="Montserrat"/>
              </a:rPr>
              <a:t>Reduced </a:t>
            </a:r>
            <a:r>
              <a:rPr lang="en-US" b="true" sz="3999" spc="-243">
                <a:solidFill>
                  <a:srgbClr val="FFFFFF"/>
                </a:solidFill>
                <a:latin typeface="Montserrat Bold"/>
                <a:ea typeface="Montserrat Bold"/>
                <a:cs typeface="Montserrat Bold"/>
                <a:sym typeface="Montserrat Bold"/>
              </a:rPr>
              <a:t>Hallucination</a:t>
            </a:r>
          </a:p>
        </p:txBody>
      </p:sp>
      <p:sp>
        <p:nvSpPr>
          <p:cNvPr name="TextBox 21" id="21"/>
          <p:cNvSpPr txBox="true"/>
          <p:nvPr/>
        </p:nvSpPr>
        <p:spPr>
          <a:xfrm rot="0">
            <a:off x="-2774924" y="8061405"/>
            <a:ext cx="12541690" cy="669925"/>
          </a:xfrm>
          <a:prstGeom prst="rect">
            <a:avLst/>
          </a:prstGeom>
        </p:spPr>
        <p:txBody>
          <a:bodyPr anchor="t" rtlCol="false" tIns="0" lIns="0" bIns="0" rIns="0">
            <a:spAutoFit/>
          </a:bodyPr>
          <a:lstStyle/>
          <a:p>
            <a:pPr algn="ctr" marL="0" indent="0" lvl="0">
              <a:lnSpc>
                <a:spcPts val="5599"/>
              </a:lnSpc>
              <a:spcBef>
                <a:spcPct val="0"/>
              </a:spcBef>
            </a:pPr>
            <a:r>
              <a:rPr lang="en-US" b="true" sz="3999" spc="-243">
                <a:solidFill>
                  <a:srgbClr val="FFFFFF"/>
                </a:solidFill>
                <a:latin typeface="Montserrat Bold"/>
                <a:ea typeface="Montserrat Bold"/>
                <a:cs typeface="Montserrat Bold"/>
                <a:sym typeface="Montserrat Bold"/>
              </a:rPr>
              <a:t>Confidence </a:t>
            </a:r>
            <a:r>
              <a:rPr lang="en-US" sz="3999" spc="-243">
                <a:solidFill>
                  <a:srgbClr val="FFFFFF"/>
                </a:solidFill>
                <a:latin typeface="Montserrat"/>
                <a:ea typeface="Montserrat"/>
                <a:cs typeface="Montserrat"/>
                <a:sym typeface="Montserrat"/>
              </a:rPr>
              <a:t>Validation</a:t>
            </a:r>
          </a:p>
        </p:txBody>
      </p:sp>
      <p:sp>
        <p:nvSpPr>
          <p:cNvPr name="TextBox 22" id="22"/>
          <p:cNvSpPr txBox="true"/>
          <p:nvPr/>
        </p:nvSpPr>
        <p:spPr>
          <a:xfrm rot="0">
            <a:off x="-2774924" y="8912305"/>
            <a:ext cx="12541690" cy="669925"/>
          </a:xfrm>
          <a:prstGeom prst="rect">
            <a:avLst/>
          </a:prstGeom>
        </p:spPr>
        <p:txBody>
          <a:bodyPr anchor="t" rtlCol="false" tIns="0" lIns="0" bIns="0" rIns="0">
            <a:spAutoFit/>
          </a:bodyPr>
          <a:lstStyle/>
          <a:p>
            <a:pPr algn="ctr" marL="0" indent="0" lvl="0">
              <a:lnSpc>
                <a:spcPts val="5599"/>
              </a:lnSpc>
              <a:spcBef>
                <a:spcPct val="0"/>
              </a:spcBef>
            </a:pPr>
            <a:r>
              <a:rPr lang="en-US" b="true" sz="3999" spc="-243">
                <a:solidFill>
                  <a:srgbClr val="FFFFFF"/>
                </a:solidFill>
                <a:latin typeface="Montserrat Bold"/>
                <a:ea typeface="Montserrat Bold"/>
                <a:cs typeface="Montserrat Bold"/>
                <a:sym typeface="Montserrat Bold"/>
              </a:rPr>
              <a:t>Structured</a:t>
            </a:r>
            <a:r>
              <a:rPr lang="en-US" sz="3999" spc="-243">
                <a:solidFill>
                  <a:srgbClr val="FFFFFF"/>
                </a:solidFill>
                <a:latin typeface="Montserrat"/>
                <a:ea typeface="Montserrat"/>
                <a:cs typeface="Montserrat"/>
                <a:sym typeface="Montserrat"/>
              </a:rPr>
              <a:t> Responses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513352" y="667880"/>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18FF"/>
            </a:soli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5762422" y="764137"/>
            <a:ext cx="1421291" cy="330200"/>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Montserrat Bold"/>
                <a:ea typeface="Montserrat Bold"/>
                <a:cs typeface="Montserrat Bold"/>
                <a:sym typeface="Montserrat Bold"/>
              </a:rPr>
              <a:t>Page 13</a:t>
            </a:r>
          </a:p>
        </p:txBody>
      </p:sp>
      <p:sp>
        <p:nvSpPr>
          <p:cNvPr name="TextBox 6" id="6"/>
          <p:cNvSpPr txBox="true"/>
          <p:nvPr/>
        </p:nvSpPr>
        <p:spPr>
          <a:xfrm rot="0">
            <a:off x="949763" y="1525349"/>
            <a:ext cx="8194237" cy="795495"/>
          </a:xfrm>
          <a:prstGeom prst="rect">
            <a:avLst/>
          </a:prstGeom>
        </p:spPr>
        <p:txBody>
          <a:bodyPr anchor="t" rtlCol="false" tIns="0" lIns="0" bIns="0" rIns="0">
            <a:spAutoFit/>
          </a:bodyPr>
          <a:lstStyle/>
          <a:p>
            <a:pPr algn="just" marL="0" indent="0" lvl="0">
              <a:lnSpc>
                <a:spcPts val="6553"/>
              </a:lnSpc>
              <a:spcBef>
                <a:spcPct val="0"/>
              </a:spcBef>
            </a:pPr>
            <a:r>
              <a:rPr lang="en-US" sz="4681" spc="-285">
                <a:solidFill>
                  <a:srgbClr val="FFFFFF"/>
                </a:solidFill>
                <a:latin typeface="Montserrat"/>
                <a:ea typeface="Montserrat"/>
                <a:cs typeface="Montserrat"/>
                <a:sym typeface="Montserrat"/>
              </a:rPr>
              <a:t>Let’s Discuss </a:t>
            </a:r>
            <a:r>
              <a:rPr lang="en-US" b="true" sz="4681" spc="-285">
                <a:solidFill>
                  <a:srgbClr val="FFFFFF"/>
                </a:solidFill>
                <a:latin typeface="Montserrat Bold"/>
                <a:ea typeface="Montserrat Bold"/>
                <a:cs typeface="Montserrat Bold"/>
                <a:sym typeface="Montserrat Bold"/>
              </a:rPr>
              <a:t>Business</a:t>
            </a:r>
          </a:p>
        </p:txBody>
      </p:sp>
      <p:sp>
        <p:nvSpPr>
          <p:cNvPr name="Freeform 7" id="7"/>
          <p:cNvSpPr/>
          <p:nvPr/>
        </p:nvSpPr>
        <p:spPr>
          <a:xfrm flipH="true" flipV="false" rot="0">
            <a:off x="10452283" y="1457029"/>
            <a:ext cx="2796342" cy="2811678"/>
          </a:xfrm>
          <a:custGeom>
            <a:avLst/>
            <a:gdLst/>
            <a:ahLst/>
            <a:cxnLst/>
            <a:rect r="r" b="b" t="t" l="l"/>
            <a:pathLst>
              <a:path h="2811678" w="2796342">
                <a:moveTo>
                  <a:pt x="2796342" y="0"/>
                </a:moveTo>
                <a:lnTo>
                  <a:pt x="0" y="0"/>
                </a:lnTo>
                <a:lnTo>
                  <a:pt x="0" y="2811679"/>
                </a:lnTo>
                <a:lnTo>
                  <a:pt x="2796342" y="2811679"/>
                </a:lnTo>
                <a:lnTo>
                  <a:pt x="2796342" y="0"/>
                </a:lnTo>
                <a:close/>
              </a:path>
            </a:pathLst>
          </a:custGeom>
          <a:blipFill>
            <a:blip r:embed="rId2">
              <a:alphaModFix amt="28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0">
            <a:off x="8679561" y="1457029"/>
            <a:ext cx="2796342" cy="2811678"/>
          </a:xfrm>
          <a:custGeom>
            <a:avLst/>
            <a:gdLst/>
            <a:ahLst/>
            <a:cxnLst/>
            <a:rect r="r" b="b" t="t" l="l"/>
            <a:pathLst>
              <a:path h="2811678" w="2796342">
                <a:moveTo>
                  <a:pt x="2796342" y="0"/>
                </a:moveTo>
                <a:lnTo>
                  <a:pt x="0" y="0"/>
                </a:lnTo>
                <a:lnTo>
                  <a:pt x="0" y="2811679"/>
                </a:lnTo>
                <a:lnTo>
                  <a:pt x="2796342" y="2811679"/>
                </a:lnTo>
                <a:lnTo>
                  <a:pt x="2796342" y="0"/>
                </a:lnTo>
                <a:close/>
              </a:path>
            </a:pathLst>
          </a:custGeom>
          <a:blipFill>
            <a:blip r:embed="rId2">
              <a:alphaModFix amt="28000"/>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949763" y="740947"/>
            <a:ext cx="1761862" cy="37259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Montserrat Heavy"/>
                <a:ea typeface="Montserrat Heavy"/>
                <a:cs typeface="Montserrat Heavy"/>
                <a:sym typeface="Montserrat Heavy"/>
              </a:rPr>
              <a:t>Neural</a:t>
            </a:r>
          </a:p>
        </p:txBody>
      </p:sp>
      <p:sp>
        <p:nvSpPr>
          <p:cNvPr name="TextBox 10" id="10"/>
          <p:cNvSpPr txBox="true"/>
          <p:nvPr/>
        </p:nvSpPr>
        <p:spPr>
          <a:xfrm rot="0">
            <a:off x="2062637" y="740393"/>
            <a:ext cx="1761862" cy="37259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Montserrat"/>
                <a:ea typeface="Montserrat"/>
                <a:cs typeface="Montserrat"/>
                <a:sym typeface="Montserrat"/>
              </a:rPr>
              <a:t>Nexus</a:t>
            </a:r>
          </a:p>
        </p:txBody>
      </p:sp>
      <p:sp>
        <p:nvSpPr>
          <p:cNvPr name="TextBox 11" id="11"/>
          <p:cNvSpPr txBox="true"/>
          <p:nvPr/>
        </p:nvSpPr>
        <p:spPr>
          <a:xfrm rot="0">
            <a:off x="949763" y="2407573"/>
            <a:ext cx="11320832" cy="422275"/>
          </a:xfrm>
          <a:prstGeom prst="rect">
            <a:avLst/>
          </a:prstGeom>
        </p:spPr>
        <p:txBody>
          <a:bodyPr anchor="t" rtlCol="false" tIns="0" lIns="0" bIns="0" rIns="0">
            <a:spAutoFit/>
          </a:bodyPr>
          <a:lstStyle/>
          <a:p>
            <a:pPr algn="just" marL="0" indent="0" lvl="0">
              <a:lnSpc>
                <a:spcPts val="3500"/>
              </a:lnSpc>
              <a:spcBef>
                <a:spcPct val="0"/>
              </a:spcBef>
            </a:pPr>
            <a:r>
              <a:rPr lang="en-US" sz="2500" i="true" spc="-152">
                <a:solidFill>
                  <a:srgbClr val="FFFFFF"/>
                </a:solidFill>
                <a:latin typeface="Montserrat Italics"/>
                <a:ea typeface="Montserrat Italics"/>
                <a:cs typeface="Montserrat Italics"/>
                <a:sym typeface="Montserrat Italics"/>
              </a:rPr>
              <a:t>“Chatbots  that  talk”   to  “ Agents  that  do”</a:t>
            </a:r>
          </a:p>
        </p:txBody>
      </p:sp>
      <p:sp>
        <p:nvSpPr>
          <p:cNvPr name="TextBox 12" id="12"/>
          <p:cNvSpPr txBox="true"/>
          <p:nvPr/>
        </p:nvSpPr>
        <p:spPr>
          <a:xfrm rot="0">
            <a:off x="949763" y="3256676"/>
            <a:ext cx="8194237" cy="514350"/>
          </a:xfrm>
          <a:prstGeom prst="rect">
            <a:avLst/>
          </a:prstGeom>
        </p:spPr>
        <p:txBody>
          <a:bodyPr anchor="t" rtlCol="false" tIns="0" lIns="0" bIns="0" rIns="0">
            <a:spAutoFit/>
          </a:bodyPr>
          <a:lstStyle/>
          <a:p>
            <a:pPr algn="just" marL="0" indent="0" lvl="0">
              <a:lnSpc>
                <a:spcPts val="4200"/>
              </a:lnSpc>
              <a:spcBef>
                <a:spcPct val="0"/>
              </a:spcBef>
            </a:pPr>
            <a:r>
              <a:rPr lang="en-US" b="true" sz="3000" spc="-182">
                <a:solidFill>
                  <a:srgbClr val="FFFFFF"/>
                </a:solidFill>
                <a:latin typeface="Montserrat Bold"/>
                <a:ea typeface="Montserrat Bold"/>
                <a:cs typeface="Montserrat Bold"/>
                <a:sym typeface="Montserrat Bold"/>
              </a:rPr>
              <a:t>Who  &amp;   Why  ?</a:t>
            </a:r>
          </a:p>
        </p:txBody>
      </p:sp>
      <p:sp>
        <p:nvSpPr>
          <p:cNvPr name="AutoShape 13" id="13"/>
          <p:cNvSpPr/>
          <p:nvPr/>
        </p:nvSpPr>
        <p:spPr>
          <a:xfrm>
            <a:off x="1107637" y="4474373"/>
            <a:ext cx="16155012" cy="0"/>
          </a:xfrm>
          <a:prstGeom prst="line">
            <a:avLst/>
          </a:prstGeom>
          <a:ln cap="flat" w="19050">
            <a:solidFill>
              <a:srgbClr val="696969"/>
            </a:solidFill>
            <a:prstDash val="solid"/>
            <a:headEnd type="none" len="sm" w="sm"/>
            <a:tailEnd type="none" len="sm" w="sm"/>
          </a:ln>
        </p:spPr>
      </p:sp>
      <p:sp>
        <p:nvSpPr>
          <p:cNvPr name="TextBox 14" id="14"/>
          <p:cNvSpPr txBox="true"/>
          <p:nvPr/>
        </p:nvSpPr>
        <p:spPr>
          <a:xfrm rot="0">
            <a:off x="1028700" y="3856751"/>
            <a:ext cx="3204645" cy="455295"/>
          </a:xfrm>
          <a:prstGeom prst="rect">
            <a:avLst/>
          </a:prstGeom>
        </p:spPr>
        <p:txBody>
          <a:bodyPr anchor="t" rtlCol="false" tIns="0" lIns="0" bIns="0" rIns="0">
            <a:spAutoFit/>
          </a:bodyPr>
          <a:lstStyle/>
          <a:p>
            <a:pPr algn="just" marL="0" indent="0" lvl="0">
              <a:lnSpc>
                <a:spcPts val="3779"/>
              </a:lnSpc>
              <a:spcBef>
                <a:spcPct val="0"/>
              </a:spcBef>
            </a:pPr>
            <a:r>
              <a:rPr lang="en-US" sz="2700" i="true" spc="-164">
                <a:solidFill>
                  <a:srgbClr val="FFFFFF"/>
                </a:solidFill>
                <a:latin typeface="Montserrat Italics"/>
                <a:ea typeface="Montserrat Italics"/>
                <a:cs typeface="Montserrat Italics"/>
                <a:sym typeface="Montserrat Italics"/>
              </a:rPr>
              <a:t>Customer Segment</a:t>
            </a:r>
          </a:p>
        </p:txBody>
      </p:sp>
      <p:sp>
        <p:nvSpPr>
          <p:cNvPr name="TextBox 15" id="15"/>
          <p:cNvSpPr txBox="true"/>
          <p:nvPr/>
        </p:nvSpPr>
        <p:spPr>
          <a:xfrm rot="0">
            <a:off x="6689116" y="3856751"/>
            <a:ext cx="3204645" cy="455295"/>
          </a:xfrm>
          <a:prstGeom prst="rect">
            <a:avLst/>
          </a:prstGeom>
        </p:spPr>
        <p:txBody>
          <a:bodyPr anchor="t" rtlCol="false" tIns="0" lIns="0" bIns="0" rIns="0">
            <a:spAutoFit/>
          </a:bodyPr>
          <a:lstStyle/>
          <a:p>
            <a:pPr algn="just" marL="0" indent="0" lvl="0">
              <a:lnSpc>
                <a:spcPts val="3779"/>
              </a:lnSpc>
              <a:spcBef>
                <a:spcPct val="0"/>
              </a:spcBef>
            </a:pPr>
            <a:r>
              <a:rPr lang="en-US" sz="2700" i="true" spc="-164">
                <a:solidFill>
                  <a:srgbClr val="FFFFFF"/>
                </a:solidFill>
                <a:latin typeface="Montserrat Italics"/>
                <a:ea typeface="Montserrat Italics"/>
                <a:cs typeface="Montserrat Italics"/>
                <a:sym typeface="Montserrat Italics"/>
              </a:rPr>
              <a:t>The why ? </a:t>
            </a:r>
          </a:p>
        </p:txBody>
      </p:sp>
      <p:sp>
        <p:nvSpPr>
          <p:cNvPr name="TextBox 16" id="16"/>
          <p:cNvSpPr txBox="true"/>
          <p:nvPr/>
        </p:nvSpPr>
        <p:spPr>
          <a:xfrm rot="0">
            <a:off x="12769838" y="3856751"/>
            <a:ext cx="3204645" cy="455295"/>
          </a:xfrm>
          <a:prstGeom prst="rect">
            <a:avLst/>
          </a:prstGeom>
        </p:spPr>
        <p:txBody>
          <a:bodyPr anchor="t" rtlCol="false" tIns="0" lIns="0" bIns="0" rIns="0">
            <a:spAutoFit/>
          </a:bodyPr>
          <a:lstStyle/>
          <a:p>
            <a:pPr algn="just" marL="0" indent="0" lvl="0">
              <a:lnSpc>
                <a:spcPts val="3779"/>
              </a:lnSpc>
              <a:spcBef>
                <a:spcPct val="0"/>
              </a:spcBef>
            </a:pPr>
            <a:r>
              <a:rPr lang="en-US" sz="2700" i="true" spc="-164">
                <a:solidFill>
                  <a:srgbClr val="FFFFFF"/>
                </a:solidFill>
                <a:latin typeface="Montserrat Italics"/>
                <a:ea typeface="Montserrat Italics"/>
                <a:cs typeface="Montserrat Italics"/>
                <a:sym typeface="Montserrat Italics"/>
              </a:rPr>
              <a:t>Why buy from us ? </a:t>
            </a:r>
          </a:p>
        </p:txBody>
      </p:sp>
      <p:sp>
        <p:nvSpPr>
          <p:cNvPr name="TextBox 17" id="17"/>
          <p:cNvSpPr txBox="true"/>
          <p:nvPr/>
        </p:nvSpPr>
        <p:spPr>
          <a:xfrm rot="0">
            <a:off x="1107637" y="4598600"/>
            <a:ext cx="3706844" cy="396240"/>
          </a:xfrm>
          <a:prstGeom prst="rect">
            <a:avLst/>
          </a:prstGeom>
        </p:spPr>
        <p:txBody>
          <a:bodyPr anchor="t" rtlCol="false" tIns="0" lIns="0" bIns="0" rIns="0">
            <a:spAutoFit/>
          </a:bodyPr>
          <a:lstStyle/>
          <a:p>
            <a:pPr algn="just" marL="0" indent="0" lvl="0">
              <a:lnSpc>
                <a:spcPts val="3359"/>
              </a:lnSpc>
              <a:spcBef>
                <a:spcPct val="0"/>
              </a:spcBef>
            </a:pPr>
            <a:r>
              <a:rPr lang="en-US" sz="2400" spc="-146">
                <a:solidFill>
                  <a:srgbClr val="FFFFFF"/>
                </a:solidFill>
                <a:latin typeface="Montserrat"/>
                <a:ea typeface="Montserrat"/>
                <a:cs typeface="Montserrat"/>
                <a:sym typeface="Montserrat"/>
              </a:rPr>
              <a:t>B2B  SaaS companies</a:t>
            </a:r>
          </a:p>
        </p:txBody>
      </p:sp>
      <p:sp>
        <p:nvSpPr>
          <p:cNvPr name="TextBox 18" id="18"/>
          <p:cNvSpPr txBox="true"/>
          <p:nvPr/>
        </p:nvSpPr>
        <p:spPr>
          <a:xfrm rot="0">
            <a:off x="6610179" y="4598600"/>
            <a:ext cx="4371043" cy="1234440"/>
          </a:xfrm>
          <a:prstGeom prst="rect">
            <a:avLst/>
          </a:prstGeom>
        </p:spPr>
        <p:txBody>
          <a:bodyPr anchor="t" rtlCol="false" tIns="0" lIns="0" bIns="0" rIns="0">
            <a:spAutoFit/>
          </a:bodyPr>
          <a:lstStyle/>
          <a:p>
            <a:pPr algn="just" marL="0" indent="0" lvl="0">
              <a:lnSpc>
                <a:spcPts val="3359"/>
              </a:lnSpc>
              <a:spcBef>
                <a:spcPct val="0"/>
              </a:spcBef>
            </a:pPr>
            <a:r>
              <a:rPr lang="en-US" sz="2400" spc="-146">
                <a:solidFill>
                  <a:srgbClr val="FFFFFF"/>
                </a:solidFill>
                <a:latin typeface="Montserrat"/>
                <a:ea typeface="Montserrat"/>
                <a:cs typeface="Montserrat"/>
                <a:sym typeface="Montserrat"/>
              </a:rPr>
              <a:t>Their users want specialized features (e.g., a "Legal Assistant" in a CRM).</a:t>
            </a:r>
          </a:p>
        </p:txBody>
      </p:sp>
      <p:sp>
        <p:nvSpPr>
          <p:cNvPr name="TextBox 19" id="19"/>
          <p:cNvSpPr txBox="true"/>
          <p:nvPr/>
        </p:nvSpPr>
        <p:spPr>
          <a:xfrm rot="0">
            <a:off x="12769838" y="4598600"/>
            <a:ext cx="4492811" cy="1234440"/>
          </a:xfrm>
          <a:prstGeom prst="rect">
            <a:avLst/>
          </a:prstGeom>
        </p:spPr>
        <p:txBody>
          <a:bodyPr anchor="t" rtlCol="false" tIns="0" lIns="0" bIns="0" rIns="0">
            <a:spAutoFit/>
          </a:bodyPr>
          <a:lstStyle/>
          <a:p>
            <a:pPr algn="just" marL="0" indent="0" lvl="0">
              <a:lnSpc>
                <a:spcPts val="3359"/>
              </a:lnSpc>
              <a:spcBef>
                <a:spcPct val="0"/>
              </a:spcBef>
            </a:pPr>
            <a:r>
              <a:rPr lang="en-US" sz="2400" spc="-146">
                <a:solidFill>
                  <a:srgbClr val="FFFFFF"/>
                </a:solidFill>
                <a:latin typeface="Montserrat"/>
                <a:ea typeface="Montserrat"/>
                <a:cs typeface="Montserrat"/>
                <a:sym typeface="Montserrat"/>
              </a:rPr>
              <a:t>Why They don't want to build a new model. They just "plug in" SME module.</a:t>
            </a:r>
          </a:p>
        </p:txBody>
      </p:sp>
      <p:sp>
        <p:nvSpPr>
          <p:cNvPr name="AutoShape 20" id="20"/>
          <p:cNvSpPr/>
          <p:nvPr/>
        </p:nvSpPr>
        <p:spPr>
          <a:xfrm>
            <a:off x="1107637" y="6061640"/>
            <a:ext cx="16155012" cy="0"/>
          </a:xfrm>
          <a:prstGeom prst="line">
            <a:avLst/>
          </a:prstGeom>
          <a:ln cap="flat" w="19050">
            <a:solidFill>
              <a:srgbClr val="696969"/>
            </a:solidFill>
            <a:prstDash val="solid"/>
            <a:headEnd type="none" len="sm" w="sm"/>
            <a:tailEnd type="none" len="sm" w="sm"/>
          </a:ln>
        </p:spPr>
      </p:sp>
      <p:sp>
        <p:nvSpPr>
          <p:cNvPr name="TextBox 21" id="21"/>
          <p:cNvSpPr txBox="true"/>
          <p:nvPr/>
        </p:nvSpPr>
        <p:spPr>
          <a:xfrm rot="0">
            <a:off x="1145431" y="6252140"/>
            <a:ext cx="3706844" cy="396240"/>
          </a:xfrm>
          <a:prstGeom prst="rect">
            <a:avLst/>
          </a:prstGeom>
        </p:spPr>
        <p:txBody>
          <a:bodyPr anchor="t" rtlCol="false" tIns="0" lIns="0" bIns="0" rIns="0">
            <a:spAutoFit/>
          </a:bodyPr>
          <a:lstStyle/>
          <a:p>
            <a:pPr algn="just" marL="0" indent="0" lvl="0">
              <a:lnSpc>
                <a:spcPts val="3359"/>
              </a:lnSpc>
              <a:spcBef>
                <a:spcPct val="0"/>
              </a:spcBef>
            </a:pPr>
            <a:r>
              <a:rPr lang="en-US" sz="2400" spc="-146">
                <a:solidFill>
                  <a:srgbClr val="FFFFFF"/>
                </a:solidFill>
                <a:latin typeface="Montserrat"/>
                <a:ea typeface="Montserrat"/>
                <a:cs typeface="Montserrat"/>
                <a:sym typeface="Montserrat"/>
              </a:rPr>
              <a:t>Engineering Audit</a:t>
            </a:r>
          </a:p>
        </p:txBody>
      </p:sp>
      <p:sp>
        <p:nvSpPr>
          <p:cNvPr name="TextBox 22" id="22"/>
          <p:cNvSpPr txBox="true"/>
          <p:nvPr/>
        </p:nvSpPr>
        <p:spPr>
          <a:xfrm rot="0">
            <a:off x="6647973" y="6252140"/>
            <a:ext cx="4371043" cy="1234440"/>
          </a:xfrm>
          <a:prstGeom prst="rect">
            <a:avLst/>
          </a:prstGeom>
        </p:spPr>
        <p:txBody>
          <a:bodyPr anchor="t" rtlCol="false" tIns="0" lIns="0" bIns="0" rIns="0">
            <a:spAutoFit/>
          </a:bodyPr>
          <a:lstStyle/>
          <a:p>
            <a:pPr algn="just" marL="0" indent="0" lvl="0">
              <a:lnSpc>
                <a:spcPts val="3359"/>
              </a:lnSpc>
              <a:spcBef>
                <a:spcPct val="0"/>
              </a:spcBef>
            </a:pPr>
            <a:r>
              <a:rPr lang="en-US" sz="2400" spc="-146">
                <a:solidFill>
                  <a:srgbClr val="FFFFFF"/>
                </a:solidFill>
                <a:latin typeface="Montserrat"/>
                <a:ea typeface="Montserrat"/>
                <a:cs typeface="Montserrat"/>
                <a:sym typeface="Montserrat"/>
              </a:rPr>
              <a:t>Reviewing 500+ blueprints or tax filings manually is slow and error-prone.</a:t>
            </a:r>
          </a:p>
        </p:txBody>
      </p:sp>
      <p:sp>
        <p:nvSpPr>
          <p:cNvPr name="TextBox 23" id="23"/>
          <p:cNvSpPr txBox="true"/>
          <p:nvPr/>
        </p:nvSpPr>
        <p:spPr>
          <a:xfrm rot="0">
            <a:off x="12807632" y="6252140"/>
            <a:ext cx="4492811" cy="1234440"/>
          </a:xfrm>
          <a:prstGeom prst="rect">
            <a:avLst/>
          </a:prstGeom>
        </p:spPr>
        <p:txBody>
          <a:bodyPr anchor="t" rtlCol="false" tIns="0" lIns="0" bIns="0" rIns="0">
            <a:spAutoFit/>
          </a:bodyPr>
          <a:lstStyle/>
          <a:p>
            <a:pPr algn="just" marL="0" indent="0" lvl="0">
              <a:lnSpc>
                <a:spcPts val="3359"/>
              </a:lnSpc>
              <a:spcBef>
                <a:spcPct val="0"/>
              </a:spcBef>
            </a:pPr>
            <a:r>
              <a:rPr lang="en-US" sz="2400" spc="-146">
                <a:solidFill>
                  <a:srgbClr val="FFFFFF"/>
                </a:solidFill>
                <a:latin typeface="Montserrat"/>
                <a:ea typeface="Montserrat"/>
                <a:cs typeface="Montserrat"/>
                <a:sym typeface="Montserrat"/>
              </a:rPr>
              <a:t>Source of Truth citations and Decision Trees reduce their liability.</a:t>
            </a:r>
          </a:p>
        </p:txBody>
      </p:sp>
      <p:sp>
        <p:nvSpPr>
          <p:cNvPr name="AutoShape 24" id="24"/>
          <p:cNvSpPr/>
          <p:nvPr/>
        </p:nvSpPr>
        <p:spPr>
          <a:xfrm>
            <a:off x="1145431" y="7715180"/>
            <a:ext cx="16155012" cy="0"/>
          </a:xfrm>
          <a:prstGeom prst="line">
            <a:avLst/>
          </a:prstGeom>
          <a:ln cap="flat" w="19050">
            <a:solidFill>
              <a:srgbClr val="696969"/>
            </a:solidFill>
            <a:prstDash val="solid"/>
            <a:headEnd type="none" len="sm" w="sm"/>
            <a:tailEnd type="none" len="sm" w="sm"/>
          </a:ln>
        </p:spPr>
      </p:sp>
      <p:sp>
        <p:nvSpPr>
          <p:cNvPr name="TextBox 25" id="25"/>
          <p:cNvSpPr txBox="true"/>
          <p:nvPr/>
        </p:nvSpPr>
        <p:spPr>
          <a:xfrm rot="0">
            <a:off x="1145431" y="7839005"/>
            <a:ext cx="4271806" cy="396240"/>
          </a:xfrm>
          <a:prstGeom prst="rect">
            <a:avLst/>
          </a:prstGeom>
        </p:spPr>
        <p:txBody>
          <a:bodyPr anchor="t" rtlCol="false" tIns="0" lIns="0" bIns="0" rIns="0">
            <a:spAutoFit/>
          </a:bodyPr>
          <a:lstStyle/>
          <a:p>
            <a:pPr algn="just" marL="0" indent="0" lvl="0">
              <a:lnSpc>
                <a:spcPts val="3359"/>
              </a:lnSpc>
              <a:spcBef>
                <a:spcPct val="0"/>
              </a:spcBef>
            </a:pPr>
            <a:r>
              <a:rPr lang="en-US" sz="2400" spc="-146">
                <a:solidFill>
                  <a:srgbClr val="FFFFFF"/>
                </a:solidFill>
                <a:latin typeface="Montserrat"/>
                <a:ea typeface="Montserrat"/>
                <a:cs typeface="Montserrat"/>
                <a:sym typeface="Montserrat"/>
              </a:rPr>
              <a:t>Healthcare &amp; Medical Systems  </a:t>
            </a:r>
          </a:p>
        </p:txBody>
      </p:sp>
      <p:sp>
        <p:nvSpPr>
          <p:cNvPr name="TextBox 26" id="26"/>
          <p:cNvSpPr txBox="true"/>
          <p:nvPr/>
        </p:nvSpPr>
        <p:spPr>
          <a:xfrm rot="0">
            <a:off x="6647973" y="7839005"/>
            <a:ext cx="4827930" cy="1234440"/>
          </a:xfrm>
          <a:prstGeom prst="rect">
            <a:avLst/>
          </a:prstGeom>
        </p:spPr>
        <p:txBody>
          <a:bodyPr anchor="t" rtlCol="false" tIns="0" lIns="0" bIns="0" rIns="0">
            <a:spAutoFit/>
          </a:bodyPr>
          <a:lstStyle/>
          <a:p>
            <a:pPr algn="just" marL="0" indent="0" lvl="0">
              <a:lnSpc>
                <a:spcPts val="3359"/>
              </a:lnSpc>
              <a:spcBef>
                <a:spcPct val="0"/>
              </a:spcBef>
            </a:pPr>
            <a:r>
              <a:rPr lang="en-US" sz="2400" spc="-146">
                <a:solidFill>
                  <a:srgbClr val="FFFFFF"/>
                </a:solidFill>
                <a:latin typeface="Montserrat"/>
                <a:ea typeface="Montserrat"/>
                <a:cs typeface="Montserrat"/>
                <a:sym typeface="Montserrat"/>
              </a:rPr>
              <a:t>Clinical workflows require domain-safe decision support rather than generic AI responses.</a:t>
            </a:r>
          </a:p>
        </p:txBody>
      </p:sp>
      <p:sp>
        <p:nvSpPr>
          <p:cNvPr name="TextBox 27" id="27"/>
          <p:cNvSpPr txBox="true"/>
          <p:nvPr/>
        </p:nvSpPr>
        <p:spPr>
          <a:xfrm rot="0">
            <a:off x="12807632" y="7839005"/>
            <a:ext cx="4492811" cy="1234440"/>
          </a:xfrm>
          <a:prstGeom prst="rect">
            <a:avLst/>
          </a:prstGeom>
        </p:spPr>
        <p:txBody>
          <a:bodyPr anchor="t" rtlCol="false" tIns="0" lIns="0" bIns="0" rIns="0">
            <a:spAutoFit/>
          </a:bodyPr>
          <a:lstStyle/>
          <a:p>
            <a:pPr algn="just" marL="0" indent="0" lvl="0">
              <a:lnSpc>
                <a:spcPts val="3359"/>
              </a:lnSpc>
              <a:spcBef>
                <a:spcPct val="0"/>
              </a:spcBef>
            </a:pPr>
            <a:r>
              <a:rPr lang="en-US" sz="2400" spc="-146">
                <a:solidFill>
                  <a:srgbClr val="FFFFFF"/>
                </a:solidFill>
                <a:latin typeface="Montserrat"/>
                <a:ea typeface="Montserrat"/>
                <a:cs typeface="Montserrat"/>
                <a:sym typeface="Montserrat"/>
              </a:rPr>
              <a:t>Reduces unsafe AI outputs while maintaining explainable medical reasoning.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513352" y="667880"/>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18FF"/>
            </a:soli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5762422" y="764137"/>
            <a:ext cx="1421291" cy="330200"/>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Montserrat Bold"/>
                <a:ea typeface="Montserrat Bold"/>
                <a:cs typeface="Montserrat Bold"/>
                <a:sym typeface="Montserrat Bold"/>
              </a:rPr>
              <a:t>Page 14</a:t>
            </a:r>
          </a:p>
        </p:txBody>
      </p:sp>
      <p:grpSp>
        <p:nvGrpSpPr>
          <p:cNvPr name="Group 6" id="6"/>
          <p:cNvGrpSpPr/>
          <p:nvPr/>
        </p:nvGrpSpPr>
        <p:grpSpPr>
          <a:xfrm rot="0">
            <a:off x="1281605" y="8199843"/>
            <a:ext cx="15724790" cy="1058457"/>
            <a:chOff x="0" y="0"/>
            <a:chExt cx="4141508" cy="278771"/>
          </a:xfrm>
        </p:grpSpPr>
        <p:sp>
          <p:nvSpPr>
            <p:cNvPr name="Freeform 7" id="7"/>
            <p:cNvSpPr/>
            <p:nvPr/>
          </p:nvSpPr>
          <p:spPr>
            <a:xfrm flipH="false" flipV="false" rot="0">
              <a:off x="0" y="0"/>
              <a:ext cx="4141508" cy="278771"/>
            </a:xfrm>
            <a:custGeom>
              <a:avLst/>
              <a:gdLst/>
              <a:ahLst/>
              <a:cxnLst/>
              <a:rect r="r" b="b" t="t" l="l"/>
              <a:pathLst>
                <a:path h="278771" w="4141508">
                  <a:moveTo>
                    <a:pt x="25109" y="0"/>
                  </a:moveTo>
                  <a:lnTo>
                    <a:pt x="4116399" y="0"/>
                  </a:lnTo>
                  <a:cubicBezTo>
                    <a:pt x="4130266" y="0"/>
                    <a:pt x="4141508" y="11242"/>
                    <a:pt x="4141508" y="25109"/>
                  </a:cubicBezTo>
                  <a:lnTo>
                    <a:pt x="4141508" y="253661"/>
                  </a:lnTo>
                  <a:cubicBezTo>
                    <a:pt x="4141508" y="260321"/>
                    <a:pt x="4138863" y="266707"/>
                    <a:pt x="4134154" y="271416"/>
                  </a:cubicBezTo>
                  <a:cubicBezTo>
                    <a:pt x="4129445" y="276125"/>
                    <a:pt x="4123058" y="278771"/>
                    <a:pt x="4116399" y="278771"/>
                  </a:cubicBezTo>
                  <a:lnTo>
                    <a:pt x="25109" y="278771"/>
                  </a:lnTo>
                  <a:cubicBezTo>
                    <a:pt x="18450" y="278771"/>
                    <a:pt x="12063" y="276125"/>
                    <a:pt x="7354" y="271416"/>
                  </a:cubicBezTo>
                  <a:cubicBezTo>
                    <a:pt x="2645" y="266707"/>
                    <a:pt x="0" y="260321"/>
                    <a:pt x="0" y="253661"/>
                  </a:cubicBezTo>
                  <a:lnTo>
                    <a:pt x="0" y="25109"/>
                  </a:lnTo>
                  <a:cubicBezTo>
                    <a:pt x="0" y="11242"/>
                    <a:pt x="11242" y="0"/>
                    <a:pt x="25109" y="0"/>
                  </a:cubicBezTo>
                  <a:close/>
                </a:path>
              </a:pathLst>
            </a:custGeom>
            <a:ln w="28575" cap="rnd">
              <a:solidFill>
                <a:srgbClr val="FFFFFF"/>
              </a:solidFill>
              <a:prstDash val="solid"/>
              <a:round/>
            </a:ln>
          </p:spPr>
        </p:sp>
        <p:sp>
          <p:nvSpPr>
            <p:cNvPr name="TextBox 8" id="8"/>
            <p:cNvSpPr txBox="true"/>
            <p:nvPr/>
          </p:nvSpPr>
          <p:spPr>
            <a:xfrm>
              <a:off x="0" y="-38100"/>
              <a:ext cx="4141508" cy="316871"/>
            </a:xfrm>
            <a:prstGeom prst="rect">
              <a:avLst/>
            </a:prstGeom>
          </p:spPr>
          <p:txBody>
            <a:bodyPr anchor="ctr" rtlCol="false" tIns="50800" lIns="50800" bIns="50800" rIns="50800"/>
            <a:lstStyle/>
            <a:p>
              <a:pPr algn="ctr">
                <a:lnSpc>
                  <a:spcPts val="2871"/>
                </a:lnSpc>
              </a:pPr>
            </a:p>
          </p:txBody>
        </p:sp>
      </p:grpSp>
      <p:sp>
        <p:nvSpPr>
          <p:cNvPr name="TextBox 9" id="9"/>
          <p:cNvSpPr txBox="true"/>
          <p:nvPr/>
        </p:nvSpPr>
        <p:spPr>
          <a:xfrm rot="0">
            <a:off x="3219766" y="2334383"/>
            <a:ext cx="11848468" cy="2334962"/>
          </a:xfrm>
          <a:prstGeom prst="rect">
            <a:avLst/>
          </a:prstGeom>
        </p:spPr>
        <p:txBody>
          <a:bodyPr anchor="t" rtlCol="false" tIns="0" lIns="0" bIns="0" rIns="0">
            <a:spAutoFit/>
          </a:bodyPr>
          <a:lstStyle/>
          <a:p>
            <a:pPr algn="ctr" marL="0" indent="0" lvl="0">
              <a:lnSpc>
                <a:spcPts val="19164"/>
              </a:lnSpc>
              <a:spcBef>
                <a:spcPct val="0"/>
              </a:spcBef>
            </a:pPr>
            <a:r>
              <a:rPr lang="en-US" b="true" sz="13688" spc="-835">
                <a:solidFill>
                  <a:srgbClr val="FFFFFF"/>
                </a:solidFill>
                <a:latin typeface="Montserrat Bold"/>
                <a:ea typeface="Montserrat Bold"/>
                <a:cs typeface="Montserrat Bold"/>
                <a:sym typeface="Montserrat Bold"/>
              </a:rPr>
              <a:t>Thank You</a:t>
            </a:r>
          </a:p>
        </p:txBody>
      </p:sp>
      <p:sp>
        <p:nvSpPr>
          <p:cNvPr name="Freeform 10" id="10"/>
          <p:cNvSpPr/>
          <p:nvPr/>
        </p:nvSpPr>
        <p:spPr>
          <a:xfrm flipH="true" flipV="false" rot="0">
            <a:off x="1509669" y="2242854"/>
            <a:ext cx="1601696" cy="1610481"/>
          </a:xfrm>
          <a:custGeom>
            <a:avLst/>
            <a:gdLst/>
            <a:ahLst/>
            <a:cxnLst/>
            <a:rect r="r" b="b" t="t" l="l"/>
            <a:pathLst>
              <a:path h="1610481" w="1601696">
                <a:moveTo>
                  <a:pt x="1601696" y="0"/>
                </a:moveTo>
                <a:lnTo>
                  <a:pt x="0" y="0"/>
                </a:lnTo>
                <a:lnTo>
                  <a:pt x="0" y="1610480"/>
                </a:lnTo>
                <a:lnTo>
                  <a:pt x="1601696" y="1610480"/>
                </a:lnTo>
                <a:lnTo>
                  <a:pt x="16016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false" rot="0">
            <a:off x="494284" y="2242854"/>
            <a:ext cx="1601696" cy="1610481"/>
          </a:xfrm>
          <a:custGeom>
            <a:avLst/>
            <a:gdLst/>
            <a:ahLst/>
            <a:cxnLst/>
            <a:rect r="r" b="b" t="t" l="l"/>
            <a:pathLst>
              <a:path h="1610481" w="1601696">
                <a:moveTo>
                  <a:pt x="1601696" y="0"/>
                </a:moveTo>
                <a:lnTo>
                  <a:pt x="0" y="0"/>
                </a:lnTo>
                <a:lnTo>
                  <a:pt x="0" y="1610480"/>
                </a:lnTo>
                <a:lnTo>
                  <a:pt x="1601696" y="1610480"/>
                </a:lnTo>
                <a:lnTo>
                  <a:pt x="16016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true" flipV="false" rot="0">
            <a:off x="15527529" y="5807686"/>
            <a:ext cx="1731771" cy="1741269"/>
          </a:xfrm>
          <a:custGeom>
            <a:avLst/>
            <a:gdLst/>
            <a:ahLst/>
            <a:cxnLst/>
            <a:rect r="r" b="b" t="t" l="l"/>
            <a:pathLst>
              <a:path h="1741269" w="1731771">
                <a:moveTo>
                  <a:pt x="1731771" y="0"/>
                </a:moveTo>
                <a:lnTo>
                  <a:pt x="0" y="0"/>
                </a:lnTo>
                <a:lnTo>
                  <a:pt x="0" y="1741269"/>
                </a:lnTo>
                <a:lnTo>
                  <a:pt x="1731771" y="1741269"/>
                </a:lnTo>
                <a:lnTo>
                  <a:pt x="173177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true" flipV="false" rot="0">
            <a:off x="14429684" y="5807686"/>
            <a:ext cx="1731771" cy="1741269"/>
          </a:xfrm>
          <a:custGeom>
            <a:avLst/>
            <a:gdLst/>
            <a:ahLst/>
            <a:cxnLst/>
            <a:rect r="r" b="b" t="t" l="l"/>
            <a:pathLst>
              <a:path h="1741269" w="1731771">
                <a:moveTo>
                  <a:pt x="1731771" y="0"/>
                </a:moveTo>
                <a:lnTo>
                  <a:pt x="0" y="0"/>
                </a:lnTo>
                <a:lnTo>
                  <a:pt x="0" y="1741269"/>
                </a:lnTo>
                <a:lnTo>
                  <a:pt x="1731771" y="1741269"/>
                </a:lnTo>
                <a:lnTo>
                  <a:pt x="1731771"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1509669" y="6434594"/>
            <a:ext cx="1107412" cy="110741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8FF"/>
            </a:solidFill>
          </p:spPr>
        </p:sp>
        <p:sp>
          <p:nvSpPr>
            <p:cNvPr name="TextBox 16" id="16"/>
            <p:cNvSpPr txBox="true"/>
            <p:nvPr/>
          </p:nvSpPr>
          <p:spPr>
            <a:xfrm>
              <a:off x="76200" y="19050"/>
              <a:ext cx="660400" cy="717550"/>
            </a:xfrm>
            <a:prstGeom prst="rect">
              <a:avLst/>
            </a:prstGeom>
          </p:spPr>
          <p:txBody>
            <a:bodyPr anchor="ctr" rtlCol="false" tIns="50800" lIns="50800" bIns="50800" rIns="50800"/>
            <a:lstStyle/>
            <a:p>
              <a:pPr algn="ctr">
                <a:lnSpc>
                  <a:spcPts val="2871"/>
                </a:lnSpc>
              </a:pPr>
            </a:p>
          </p:txBody>
        </p:sp>
      </p:grpSp>
      <p:grpSp>
        <p:nvGrpSpPr>
          <p:cNvPr name="Group 17" id="17"/>
          <p:cNvGrpSpPr/>
          <p:nvPr/>
        </p:nvGrpSpPr>
        <p:grpSpPr>
          <a:xfrm rot="0">
            <a:off x="16051868" y="2591558"/>
            <a:ext cx="1060252" cy="106025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8FF"/>
            </a:solidFill>
          </p:spPr>
        </p:sp>
        <p:sp>
          <p:nvSpPr>
            <p:cNvPr name="TextBox 19" id="19"/>
            <p:cNvSpPr txBox="true"/>
            <p:nvPr/>
          </p:nvSpPr>
          <p:spPr>
            <a:xfrm>
              <a:off x="76200" y="19050"/>
              <a:ext cx="660400" cy="717550"/>
            </a:xfrm>
            <a:prstGeom prst="rect">
              <a:avLst/>
            </a:prstGeom>
          </p:spPr>
          <p:txBody>
            <a:bodyPr anchor="ctr" rtlCol="false" tIns="50800" lIns="50800" bIns="50800" rIns="50800"/>
            <a:lstStyle/>
            <a:p>
              <a:pPr algn="ctr">
                <a:lnSpc>
                  <a:spcPts val="2871"/>
                </a:lnSpc>
              </a:pPr>
            </a:p>
          </p:txBody>
        </p:sp>
      </p:grpSp>
      <p:sp>
        <p:nvSpPr>
          <p:cNvPr name="TextBox 20" id="20"/>
          <p:cNvSpPr txBox="true"/>
          <p:nvPr/>
        </p:nvSpPr>
        <p:spPr>
          <a:xfrm rot="0">
            <a:off x="949763" y="740947"/>
            <a:ext cx="1761862" cy="372590"/>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Montserrat Heavy"/>
                <a:ea typeface="Montserrat Heavy"/>
                <a:cs typeface="Montserrat Heavy"/>
                <a:sym typeface="Montserrat Heavy"/>
              </a:rPr>
              <a:t>Neural</a:t>
            </a:r>
          </a:p>
        </p:txBody>
      </p:sp>
      <p:sp>
        <p:nvSpPr>
          <p:cNvPr name="TextBox 21" id="21"/>
          <p:cNvSpPr txBox="true"/>
          <p:nvPr/>
        </p:nvSpPr>
        <p:spPr>
          <a:xfrm rot="0">
            <a:off x="2062637" y="740393"/>
            <a:ext cx="1761862" cy="372590"/>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Montserrat"/>
                <a:ea typeface="Montserrat"/>
                <a:cs typeface="Montserrat"/>
                <a:sym typeface="Montserrat"/>
              </a:rPr>
              <a:t>Nexus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DAHCnqtlBlg</dc:identifier>
  <dcterms:modified xsi:type="dcterms:W3CDTF">2011-08-01T06:04:30Z</dcterms:modified>
  <cp:revision>1</cp:revision>
  <dc:title>SME PLUG</dc:title>
</cp:coreProperties>
</file>